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4" r:id="rId1"/>
    <p:sldMasterId id="2147483687" r:id="rId2"/>
  </p:sldMasterIdLst>
  <p:notesMasterIdLst>
    <p:notesMasterId r:id="rId16"/>
  </p:notesMasterIdLst>
  <p:sldIdLst>
    <p:sldId id="268" r:id="rId3"/>
    <p:sldId id="257" r:id="rId4"/>
    <p:sldId id="258" r:id="rId5"/>
    <p:sldId id="259" r:id="rId6"/>
    <p:sldId id="260" r:id="rId7"/>
    <p:sldId id="261" r:id="rId8"/>
    <p:sldId id="262" r:id="rId9"/>
    <p:sldId id="263" r:id="rId10"/>
    <p:sldId id="264" r:id="rId11"/>
    <p:sldId id="271" r:id="rId12"/>
    <p:sldId id="269" r:id="rId13"/>
    <p:sldId id="270" r:id="rId14"/>
    <p:sldId id="267" r:id="rId15"/>
  </p:sldIdLst>
  <p:sldSz cx="12192000" cy="6858000"/>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521415D9-36F7-43E2-AB2F-B90AF26B5E84}">
      <p14:sectionLst xmlns:p14="http://schemas.microsoft.com/office/powerpoint/2010/main">
        <p14:section name="Default Section" id="{695B78B0-FD91-6D44-B3E2-4C06672F9C90}">
          <p14:sldIdLst>
            <p14:sldId id="268"/>
            <p14:sldId id="257"/>
            <p14:sldId id="258"/>
            <p14:sldId id="259"/>
            <p14:sldId id="260"/>
            <p14:sldId id="261"/>
            <p14:sldId id="262"/>
            <p14:sldId id="263"/>
            <p14:sldId id="264"/>
            <p14:sldId id="271"/>
            <p14:sldId id="269"/>
            <p14:sldId id="270"/>
            <p14:sldId id="26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82DA4C-6CA3-4CE7-8176-03BCC6AB02EE}">
  <a:tblStyle styleId="{6082DA4C-6CA3-4CE7-8176-03BCC6AB02EE}"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9525" cap="flat" cmpd="sng">
              <a:solidFill>
                <a:srgbClr val="000000">
                  <a:alpha val="0"/>
                </a:srgbClr>
              </a:solidFill>
              <a:prstDash val="solid"/>
              <a:round/>
              <a:headEnd type="none" w="med" len="med"/>
              <a:tailEnd type="none" w="med" len="med"/>
            </a:ln>
          </a:top>
          <a:bottom>
            <a:ln w="9525" cap="flat" cmpd="sng">
              <a:solidFill>
                <a:srgbClr val="000000">
                  <a:alpha val="0"/>
                </a:srgbClr>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tblStyle>
  <a:tblStyle styleId="{68FEBBDB-C421-41E5-A7EE-0643DF1319D2}" styleName="Table_1">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9525" cap="flat" cmpd="sng">
              <a:solidFill>
                <a:srgbClr val="000000">
                  <a:alpha val="0"/>
                </a:srgbClr>
              </a:solidFill>
              <a:prstDash val="solid"/>
              <a:round/>
              <a:headEnd type="none" w="med" len="med"/>
              <a:tailEnd type="none" w="med" len="med"/>
            </a:ln>
          </a:top>
          <a:bottom>
            <a:ln w="9525" cap="flat" cmpd="sng">
              <a:solidFill>
                <a:srgbClr val="000000">
                  <a:alpha val="0"/>
                </a:srgbClr>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97"/>
    <p:restoredTop sz="94686"/>
  </p:normalViewPr>
  <p:slideViewPr>
    <p:cSldViewPr snapToGrid="0" snapToObjects="1">
      <p:cViewPr>
        <p:scale>
          <a:sx n="95" d="100"/>
          <a:sy n="95" d="100"/>
        </p:scale>
        <p:origin x="928"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20" Type="http://schemas.openxmlformats.org/officeDocument/2006/relationships/tableStyles" Target="tableStyles.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120487279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7"/>
          <p:cNvSpPr>
            <a:spLocks noGrp="1" noChangeArrowheads="1"/>
          </p:cNvSpPr>
          <p:nvPr>
            <p:ph type="sldNum" sz="quarter" idx="5"/>
          </p:nvPr>
        </p:nvSpPr>
        <p:spPr>
          <a:xfrm>
            <a:off x="3937000" y="8772525"/>
            <a:ext cx="3011488" cy="461963"/>
          </a:xfrm>
          <a:prstGeom prst="rect">
            <a:avLst/>
          </a:prstGeom>
          <a:noFill/>
        </p:spPr>
        <p:txBody>
          <a:bodyPr/>
          <a:lstStyle/>
          <a:p>
            <a:fld id="{C706973B-C8B6-4583-8B22-86FB157FD251}" type="slidenum">
              <a:rPr lang="en-US" smtClean="0">
                <a:solidFill>
                  <a:prstClr val="black"/>
                </a:solidFill>
              </a:rPr>
              <a:pPr/>
              <a:t>1</a:t>
            </a:fld>
            <a:endParaRPr lang="en-US" smtClean="0">
              <a:solidFill>
                <a:prstClr val="black"/>
              </a:solidFill>
            </a:endParaRPr>
          </a:p>
        </p:txBody>
      </p:sp>
      <p:sp>
        <p:nvSpPr>
          <p:cNvPr id="152578" name="Rectangle 2"/>
          <p:cNvSpPr>
            <a:spLocks noGrp="1" noRot="1" noChangeAspect="1" noChangeArrowheads="1" noTextEdit="1"/>
          </p:cNvSpPr>
          <p:nvPr>
            <p:ph type="sldImg"/>
          </p:nvPr>
        </p:nvSpPr>
        <p:spPr>
          <a:xfrm>
            <a:off x="381000" y="685800"/>
            <a:ext cx="6096000" cy="3429000"/>
          </a:xfrm>
          <a:ln/>
        </p:spPr>
      </p:sp>
      <p:sp>
        <p:nvSpPr>
          <p:cNvPr id="152579"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1703101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Shape 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91" name="Shape 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244922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Shape 9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484494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Shape 10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3" name="Shape 10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796102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Shape 13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35" name="Shape 1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057281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71" name="Shape 1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88070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77" name="Shape 1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590761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Shape 20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04" name="Shape 20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114285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10" name="Shape 2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004809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Shape 22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23" name="Shape 2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041201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Shape 22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229" name="Shape 22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039064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w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w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86519510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Stripe_End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860" y="0"/>
            <a:ext cx="12227859" cy="6858000"/>
          </a:xfrm>
          <a:prstGeom prst="rect">
            <a:avLst/>
          </a:prstGeom>
        </p:spPr>
      </p:pic>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pic>
        <p:nvPicPr>
          <p:cNvPr id="7" name="Picture 6" descr="TAM-PrimaryMarkA.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711267" y="5362046"/>
            <a:ext cx="2328333" cy="1629833"/>
          </a:xfrm>
          <a:prstGeom prst="rect">
            <a:avLst/>
          </a:prstGeom>
        </p:spPr>
      </p:pic>
    </p:spTree>
    <p:extLst>
      <p:ext uri="{BB962C8B-B14F-4D97-AF65-F5344CB8AC3E}">
        <p14:creationId xmlns:p14="http://schemas.microsoft.com/office/powerpoint/2010/main" val="722423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89616"/>
            <a:ext cx="10363200" cy="1470025"/>
          </a:xfrm>
        </p:spPr>
        <p:txBody>
          <a:bodyPr/>
          <a:lstStyle>
            <a:lvl1pPr>
              <a:defRPr>
                <a:latin typeface="+mj-lt"/>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828800" y="314539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609600" y="6360583"/>
            <a:ext cx="2844800" cy="212731"/>
          </a:xfrm>
        </p:spPr>
        <p:txBody>
          <a:bodyPr/>
          <a:lstStyle/>
          <a:p>
            <a:fld id="{B8672867-4B84-3044-819A-BDD5809F0F3B}" type="datetimeFigureOut">
              <a:rPr lang="en-US" smtClean="0"/>
              <a:t>11/26/15</a:t>
            </a:fld>
            <a:endParaRPr lang="en-US" dirty="0"/>
          </a:p>
        </p:txBody>
      </p:sp>
      <p:sp>
        <p:nvSpPr>
          <p:cNvPr id="5" name="Footer Placeholder 4"/>
          <p:cNvSpPr>
            <a:spLocks noGrp="1"/>
          </p:cNvSpPr>
          <p:nvPr>
            <p:ph type="ftr" sz="quarter" idx="11"/>
          </p:nvPr>
        </p:nvSpPr>
        <p:spPr>
          <a:xfrm>
            <a:off x="4165600" y="6360583"/>
            <a:ext cx="3860800" cy="212731"/>
          </a:xfrm>
        </p:spPr>
        <p:txBody>
          <a:bodyPr/>
          <a:lstStyle/>
          <a:p>
            <a:endParaRPr lang="en-US" dirty="0"/>
          </a:p>
        </p:txBody>
      </p:sp>
      <p:sp>
        <p:nvSpPr>
          <p:cNvPr id="6" name="Slide Number Placeholder 5"/>
          <p:cNvSpPr>
            <a:spLocks noGrp="1"/>
          </p:cNvSpPr>
          <p:nvPr>
            <p:ph type="sldNum" sz="quarter" idx="12"/>
          </p:nvPr>
        </p:nvSpPr>
        <p:spPr>
          <a:xfrm>
            <a:off x="8737600" y="6360583"/>
            <a:ext cx="2844800" cy="212731"/>
          </a:xfrm>
        </p:spPr>
        <p:txBody>
          <a:bodyPr/>
          <a:lstStyle/>
          <a:p>
            <a:fld id="{F06A5241-12CB-C64D-AE38-6540AC6C648E}" type="slidenum">
              <a:rPr lang="en-US" smtClean="0"/>
              <a:t>‹#›</a:t>
            </a:fld>
            <a:endParaRPr lang="en-US"/>
          </a:p>
        </p:txBody>
      </p:sp>
    </p:spTree>
    <p:extLst>
      <p:ext uri="{BB962C8B-B14F-4D97-AF65-F5344CB8AC3E}">
        <p14:creationId xmlns:p14="http://schemas.microsoft.com/office/powerpoint/2010/main" val="936705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040422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09405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894881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pic>
        <p:nvPicPr>
          <p:cNvPr id="6" name="Picture 5" descr="TAM-PrimaryMark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88188" y="5541433"/>
            <a:ext cx="2328333" cy="1629833"/>
          </a:xfrm>
          <a:prstGeom prst="rect">
            <a:avLst/>
          </a:prstGeom>
        </p:spPr>
      </p:pic>
    </p:spTree>
    <p:extLst>
      <p:ext uri="{BB962C8B-B14F-4D97-AF65-F5344CB8AC3E}">
        <p14:creationId xmlns:p14="http://schemas.microsoft.com/office/powerpoint/2010/main" val="95456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75413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832996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518570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1913656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115378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Body">
    <p:spTree>
      <p:nvGrpSpPr>
        <p:cNvPr id="1" name=""/>
        <p:cNvGrpSpPr/>
        <p:nvPr/>
      </p:nvGrpSpPr>
      <p:grpSpPr>
        <a:xfrm>
          <a:off x="0" y="0"/>
          <a:ext cx="0" cy="0"/>
          <a:chOff x="0" y="0"/>
          <a:chExt cx="0" cy="0"/>
        </a:xfrm>
      </p:grpSpPr>
      <p:sp>
        <p:nvSpPr>
          <p:cNvPr id="11" name="Rectangle 25" descr="20%"/>
          <p:cNvSpPr>
            <a:spLocks noChangeArrowheads="1"/>
          </p:cNvSpPr>
          <p:nvPr userDrawn="1"/>
        </p:nvSpPr>
        <p:spPr bwMode="auto">
          <a:xfrm>
            <a:off x="25400" y="838200"/>
            <a:ext cx="12166600" cy="4800600"/>
          </a:xfrm>
          <a:prstGeom prst="rect">
            <a:avLst/>
          </a:prstGeom>
          <a:pattFill prst="pct20">
            <a:fgClr>
              <a:srgbClr val="B2B2B2"/>
            </a:fgClr>
            <a:bgClr>
              <a:schemeClr val="bg1"/>
            </a:bgClr>
          </a:pattFill>
          <a:ln w="12700">
            <a:solidFill>
              <a:schemeClr val="bg2"/>
            </a:solidFill>
            <a:miter lim="800000"/>
            <a:headEnd/>
            <a:tailEnd/>
          </a:ln>
          <a:effectLst/>
        </p:spPr>
        <p:txBody>
          <a:bodyPr wrap="none" anchor="ctr"/>
          <a:lstStyle/>
          <a:p>
            <a:pPr>
              <a:defRPr/>
            </a:pPr>
            <a:endParaRPr lang="en-US" sz="1400"/>
          </a:p>
        </p:txBody>
      </p:sp>
      <p:pic>
        <p:nvPicPr>
          <p:cNvPr id="2" name="Picture 24"/>
          <p:cNvPicPr>
            <a:picLocks noChangeAspect="1" noChangeArrowheads="1"/>
          </p:cNvPicPr>
          <p:nvPr userDrawn="1"/>
        </p:nvPicPr>
        <p:blipFill>
          <a:blip r:embed="rId2" cstate="print">
            <a:lum bright="-12000"/>
          </a:blip>
          <a:srcRect l="10411" t="6494" r="6915" b="5937"/>
          <a:stretch>
            <a:fillRect/>
          </a:stretch>
        </p:blipFill>
        <p:spPr bwMode="auto">
          <a:xfrm rot="5400000">
            <a:off x="2655094" y="-2655093"/>
            <a:ext cx="6881813" cy="12192000"/>
          </a:xfrm>
          <a:prstGeom prst="rect">
            <a:avLst/>
          </a:prstGeom>
          <a:noFill/>
          <a:ln w="9525">
            <a:noFill/>
            <a:miter lim="800000"/>
            <a:headEnd/>
            <a:tailEnd/>
          </a:ln>
        </p:spPr>
      </p:pic>
      <p:pic>
        <p:nvPicPr>
          <p:cNvPr id="4" name="Picture 26"/>
          <p:cNvPicPr>
            <a:picLocks noChangeAspect="1" noChangeArrowheads="1"/>
          </p:cNvPicPr>
          <p:nvPr userDrawn="1"/>
        </p:nvPicPr>
        <p:blipFill>
          <a:blip r:embed="rId2" cstate="print">
            <a:lum bright="-12000" contrast="36000"/>
          </a:blip>
          <a:srcRect l="10411" t="7950" r="86899" b="5937"/>
          <a:stretch>
            <a:fillRect/>
          </a:stretch>
        </p:blipFill>
        <p:spPr bwMode="auto">
          <a:xfrm rot="5400000">
            <a:off x="6023770" y="-5337969"/>
            <a:ext cx="150813" cy="12198351"/>
          </a:xfrm>
          <a:prstGeom prst="rect">
            <a:avLst/>
          </a:prstGeom>
          <a:noFill/>
          <a:ln w="9525" algn="ctr">
            <a:noFill/>
            <a:miter lim="800000"/>
            <a:headEnd/>
            <a:tailEnd/>
          </a:ln>
        </p:spPr>
      </p:pic>
      <p:pic>
        <p:nvPicPr>
          <p:cNvPr id="5" name="Picture 28"/>
          <p:cNvPicPr>
            <a:picLocks noChangeAspect="1" noChangeArrowheads="1"/>
          </p:cNvPicPr>
          <p:nvPr userDrawn="1"/>
        </p:nvPicPr>
        <p:blipFill>
          <a:blip r:embed="rId2" cstate="print">
            <a:lum bright="-12000" contrast="36000"/>
          </a:blip>
          <a:srcRect l="10411" t="7950" r="86899" b="5937"/>
          <a:stretch>
            <a:fillRect/>
          </a:stretch>
        </p:blipFill>
        <p:spPr bwMode="auto">
          <a:xfrm rot="5400000">
            <a:off x="6021388" y="-614362"/>
            <a:ext cx="149225" cy="12192000"/>
          </a:xfrm>
          <a:prstGeom prst="rect">
            <a:avLst/>
          </a:prstGeom>
          <a:noFill/>
          <a:ln w="9525" algn="ctr">
            <a:noFill/>
            <a:miter lim="800000"/>
            <a:headEnd/>
            <a:tailEnd/>
          </a:ln>
        </p:spPr>
      </p:pic>
      <p:sp>
        <p:nvSpPr>
          <p:cNvPr id="6" name="Line 31"/>
          <p:cNvSpPr>
            <a:spLocks noChangeShapeType="1"/>
          </p:cNvSpPr>
          <p:nvPr userDrawn="1"/>
        </p:nvSpPr>
        <p:spPr bwMode="auto">
          <a:xfrm>
            <a:off x="0" y="5562600"/>
            <a:ext cx="12192000" cy="0"/>
          </a:xfrm>
          <a:prstGeom prst="line">
            <a:avLst/>
          </a:prstGeom>
          <a:noFill/>
          <a:ln w="9525">
            <a:solidFill>
              <a:srgbClr val="B2B2B2"/>
            </a:solidFill>
            <a:round/>
            <a:headEnd/>
            <a:tailEnd/>
          </a:ln>
          <a:effectLst/>
        </p:spPr>
        <p:txBody>
          <a:bodyPr/>
          <a:lstStyle/>
          <a:p>
            <a:pPr>
              <a:defRPr/>
            </a:pPr>
            <a:endParaRPr lang="en-US" sz="1400"/>
          </a:p>
        </p:txBody>
      </p:sp>
      <p:sp>
        <p:nvSpPr>
          <p:cNvPr id="7" name="Line 32"/>
          <p:cNvSpPr>
            <a:spLocks noChangeShapeType="1"/>
          </p:cNvSpPr>
          <p:nvPr userDrawn="1"/>
        </p:nvSpPr>
        <p:spPr bwMode="auto">
          <a:xfrm>
            <a:off x="0" y="685800"/>
            <a:ext cx="12192000" cy="0"/>
          </a:xfrm>
          <a:prstGeom prst="line">
            <a:avLst/>
          </a:prstGeom>
          <a:noFill/>
          <a:ln w="9525">
            <a:solidFill>
              <a:srgbClr val="B2B2B2"/>
            </a:solidFill>
            <a:round/>
            <a:headEnd/>
            <a:tailEnd/>
          </a:ln>
          <a:effectLst/>
        </p:spPr>
        <p:txBody>
          <a:bodyPr/>
          <a:lstStyle/>
          <a:p>
            <a:pPr>
              <a:defRPr/>
            </a:pPr>
            <a:endParaRPr lang="en-US" sz="1400"/>
          </a:p>
        </p:txBody>
      </p:sp>
      <p:sp>
        <p:nvSpPr>
          <p:cNvPr id="8" name="Rectangle 9"/>
          <p:cNvSpPr>
            <a:spLocks noGrp="1" noChangeArrowheads="1"/>
          </p:cNvSpPr>
          <p:nvPr>
            <p:ph type="dt" sz="half" idx="10"/>
          </p:nvPr>
        </p:nvSpPr>
        <p:spPr/>
        <p:txBody>
          <a:bodyPr/>
          <a:lstStyle>
            <a:lvl1pPr>
              <a:defRPr/>
            </a:lvl1pPr>
          </a:lstStyle>
          <a:p>
            <a:pPr>
              <a:defRPr/>
            </a:pPr>
            <a:endParaRPr lang="en-US"/>
          </a:p>
        </p:txBody>
      </p:sp>
      <p:sp>
        <p:nvSpPr>
          <p:cNvPr id="9" name="Rectangle 10"/>
          <p:cNvSpPr>
            <a:spLocks noGrp="1" noChangeArrowheads="1"/>
          </p:cNvSpPr>
          <p:nvPr>
            <p:ph type="ftr" sz="quarter" idx="11"/>
          </p:nvPr>
        </p:nvSpPr>
        <p:spPr/>
        <p:txBody>
          <a:bodyPr/>
          <a:lstStyle>
            <a:lvl1pPr>
              <a:defRPr dirty="0"/>
            </a:lvl1pPr>
          </a:lstStyle>
          <a:p>
            <a:pPr>
              <a:defRPr/>
            </a:pPr>
            <a:endParaRPr lang="en-US"/>
          </a:p>
        </p:txBody>
      </p:sp>
      <p:sp>
        <p:nvSpPr>
          <p:cNvPr id="10" name="Rectangle 11"/>
          <p:cNvSpPr>
            <a:spLocks noGrp="1" noChangeArrowheads="1"/>
          </p:cNvSpPr>
          <p:nvPr>
            <p:ph type="sldNum" sz="quarter" idx="12"/>
          </p:nvPr>
        </p:nvSpPr>
        <p:spPr>
          <a:xfrm>
            <a:off x="8737600" y="6245225"/>
            <a:ext cx="2844800" cy="476250"/>
          </a:xfrm>
        </p:spPr>
        <p:txBody>
          <a:bodyPr/>
          <a:lstStyle>
            <a:lvl1pPr>
              <a:defRPr/>
            </a:lvl1pPr>
          </a:lstStyle>
          <a:p>
            <a:pPr>
              <a:defRPr/>
            </a:pPr>
            <a:fld id="{C769427D-8F79-4C6F-87D3-EBD21E8A50DF}" type="slidenum">
              <a:rPr lang="en-US"/>
              <a:pPr>
                <a:defRPr/>
              </a:pPr>
              <a:t>‹#›</a:t>
            </a:fld>
            <a:endParaRPr lang="en-US"/>
          </a:p>
        </p:txBody>
      </p:sp>
      <p:sp>
        <p:nvSpPr>
          <p:cNvPr id="12" name="Rectangle 25" descr="20%"/>
          <p:cNvSpPr>
            <a:spLocks noChangeArrowheads="1"/>
          </p:cNvSpPr>
          <p:nvPr userDrawn="1"/>
        </p:nvSpPr>
        <p:spPr bwMode="auto">
          <a:xfrm>
            <a:off x="0" y="838200"/>
            <a:ext cx="12192000" cy="4572000"/>
          </a:xfrm>
          <a:prstGeom prst="rect">
            <a:avLst/>
          </a:prstGeom>
          <a:pattFill prst="pct20">
            <a:fgClr>
              <a:srgbClr val="B2B2B2"/>
            </a:fgClr>
            <a:bgClr>
              <a:schemeClr val="bg1"/>
            </a:bgClr>
          </a:pattFill>
          <a:ln w="12700">
            <a:solidFill>
              <a:schemeClr val="bg2"/>
            </a:solidFill>
            <a:miter lim="800000"/>
            <a:headEnd/>
            <a:tailEnd/>
          </a:ln>
          <a:effectLst/>
        </p:spPr>
        <p:txBody>
          <a:bodyPr wrap="none" anchor="ctr"/>
          <a:lstStyle/>
          <a:p>
            <a:pPr>
              <a:defRPr/>
            </a:pPr>
            <a:endParaRPr lang="en-US" sz="1400"/>
          </a:p>
        </p:txBody>
      </p:sp>
    </p:spTree>
    <p:extLst>
      <p:ext uri="{BB962C8B-B14F-4D97-AF65-F5344CB8AC3E}">
        <p14:creationId xmlns:p14="http://schemas.microsoft.com/office/powerpoint/2010/main" val="15796146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Rectangle 25" descr="20%"/>
          <p:cNvSpPr>
            <a:spLocks noChangeArrowheads="1"/>
          </p:cNvSpPr>
          <p:nvPr userDrawn="1"/>
        </p:nvSpPr>
        <p:spPr bwMode="auto">
          <a:xfrm>
            <a:off x="25400" y="838200"/>
            <a:ext cx="12166600" cy="4800600"/>
          </a:xfrm>
          <a:prstGeom prst="rect">
            <a:avLst/>
          </a:prstGeom>
          <a:pattFill prst="pct20">
            <a:fgClr>
              <a:srgbClr val="B2B2B2"/>
            </a:fgClr>
            <a:bgClr>
              <a:schemeClr val="bg1"/>
            </a:bgClr>
          </a:pattFill>
          <a:ln w="12700">
            <a:solidFill>
              <a:schemeClr val="bg2"/>
            </a:solidFill>
            <a:miter lim="800000"/>
            <a:headEnd/>
            <a:tailEnd/>
          </a:ln>
          <a:effectLst/>
        </p:spPr>
        <p:txBody>
          <a:bodyPr wrap="none" anchor="ctr"/>
          <a:lstStyle/>
          <a:p>
            <a:pPr>
              <a:defRPr/>
            </a:pPr>
            <a:endParaRPr lang="en-US" sz="1400"/>
          </a:p>
        </p:txBody>
      </p:sp>
      <p:pic>
        <p:nvPicPr>
          <p:cNvPr id="2" name="Picture 24"/>
          <p:cNvPicPr>
            <a:picLocks noChangeAspect="1" noChangeArrowheads="1"/>
          </p:cNvPicPr>
          <p:nvPr userDrawn="1"/>
        </p:nvPicPr>
        <p:blipFill>
          <a:blip r:embed="rId2" cstate="print">
            <a:lum bright="-12000"/>
          </a:blip>
          <a:srcRect l="10411" t="6494" r="6915" b="5937"/>
          <a:stretch>
            <a:fillRect/>
          </a:stretch>
        </p:blipFill>
        <p:spPr bwMode="auto">
          <a:xfrm rot="5400000">
            <a:off x="2655094" y="-2655093"/>
            <a:ext cx="6881813" cy="12192000"/>
          </a:xfrm>
          <a:prstGeom prst="rect">
            <a:avLst/>
          </a:prstGeom>
          <a:noFill/>
          <a:ln w="9525">
            <a:noFill/>
            <a:miter lim="800000"/>
            <a:headEnd/>
            <a:tailEnd/>
          </a:ln>
        </p:spPr>
      </p:pic>
      <p:pic>
        <p:nvPicPr>
          <p:cNvPr id="4" name="Picture 26"/>
          <p:cNvPicPr>
            <a:picLocks noChangeAspect="1" noChangeArrowheads="1"/>
          </p:cNvPicPr>
          <p:nvPr userDrawn="1"/>
        </p:nvPicPr>
        <p:blipFill>
          <a:blip r:embed="rId2" cstate="print">
            <a:lum bright="-12000" contrast="36000"/>
          </a:blip>
          <a:srcRect l="10411" t="7950" r="86899" b="5937"/>
          <a:stretch>
            <a:fillRect/>
          </a:stretch>
        </p:blipFill>
        <p:spPr bwMode="auto">
          <a:xfrm rot="5400000">
            <a:off x="6023770" y="-5337969"/>
            <a:ext cx="150813" cy="12198351"/>
          </a:xfrm>
          <a:prstGeom prst="rect">
            <a:avLst/>
          </a:prstGeom>
          <a:noFill/>
          <a:ln w="9525" algn="ctr">
            <a:noFill/>
            <a:miter lim="800000"/>
            <a:headEnd/>
            <a:tailEnd/>
          </a:ln>
        </p:spPr>
      </p:pic>
      <p:pic>
        <p:nvPicPr>
          <p:cNvPr id="5" name="Picture 28"/>
          <p:cNvPicPr>
            <a:picLocks noChangeAspect="1" noChangeArrowheads="1"/>
          </p:cNvPicPr>
          <p:nvPr userDrawn="1"/>
        </p:nvPicPr>
        <p:blipFill>
          <a:blip r:embed="rId2" cstate="print">
            <a:lum bright="-12000" contrast="36000"/>
          </a:blip>
          <a:srcRect l="10411" t="7950" r="86899" b="5937"/>
          <a:stretch>
            <a:fillRect/>
          </a:stretch>
        </p:blipFill>
        <p:spPr bwMode="auto">
          <a:xfrm rot="5400000">
            <a:off x="6021388" y="-614362"/>
            <a:ext cx="149225" cy="12192000"/>
          </a:xfrm>
          <a:prstGeom prst="rect">
            <a:avLst/>
          </a:prstGeom>
          <a:noFill/>
          <a:ln w="9525" algn="ctr">
            <a:noFill/>
            <a:miter lim="800000"/>
            <a:headEnd/>
            <a:tailEnd/>
          </a:ln>
        </p:spPr>
      </p:pic>
      <p:sp>
        <p:nvSpPr>
          <p:cNvPr id="6" name="Line 31"/>
          <p:cNvSpPr>
            <a:spLocks noChangeShapeType="1"/>
          </p:cNvSpPr>
          <p:nvPr userDrawn="1"/>
        </p:nvSpPr>
        <p:spPr bwMode="auto">
          <a:xfrm>
            <a:off x="0" y="5562600"/>
            <a:ext cx="12192000" cy="0"/>
          </a:xfrm>
          <a:prstGeom prst="line">
            <a:avLst/>
          </a:prstGeom>
          <a:noFill/>
          <a:ln w="9525">
            <a:solidFill>
              <a:srgbClr val="B2B2B2"/>
            </a:solidFill>
            <a:round/>
            <a:headEnd/>
            <a:tailEnd/>
          </a:ln>
          <a:effectLst/>
        </p:spPr>
        <p:txBody>
          <a:bodyPr/>
          <a:lstStyle/>
          <a:p>
            <a:pPr>
              <a:defRPr/>
            </a:pPr>
            <a:endParaRPr lang="en-US" sz="1400"/>
          </a:p>
        </p:txBody>
      </p:sp>
      <p:sp>
        <p:nvSpPr>
          <p:cNvPr id="7" name="Line 32"/>
          <p:cNvSpPr>
            <a:spLocks noChangeShapeType="1"/>
          </p:cNvSpPr>
          <p:nvPr userDrawn="1"/>
        </p:nvSpPr>
        <p:spPr bwMode="auto">
          <a:xfrm>
            <a:off x="0" y="685800"/>
            <a:ext cx="12192000" cy="0"/>
          </a:xfrm>
          <a:prstGeom prst="line">
            <a:avLst/>
          </a:prstGeom>
          <a:noFill/>
          <a:ln w="9525">
            <a:solidFill>
              <a:srgbClr val="B2B2B2"/>
            </a:solidFill>
            <a:round/>
            <a:headEnd/>
            <a:tailEnd/>
          </a:ln>
          <a:effectLst/>
        </p:spPr>
        <p:txBody>
          <a:bodyPr/>
          <a:lstStyle/>
          <a:p>
            <a:pPr>
              <a:defRPr/>
            </a:pPr>
            <a:endParaRPr lang="en-US" sz="1400"/>
          </a:p>
        </p:txBody>
      </p:sp>
      <p:sp>
        <p:nvSpPr>
          <p:cNvPr id="8" name="Rectangle 9"/>
          <p:cNvSpPr>
            <a:spLocks noGrp="1" noChangeArrowheads="1"/>
          </p:cNvSpPr>
          <p:nvPr>
            <p:ph type="dt" sz="half" idx="10"/>
          </p:nvPr>
        </p:nvSpPr>
        <p:spPr/>
        <p:txBody>
          <a:bodyPr/>
          <a:lstStyle>
            <a:lvl1pPr>
              <a:defRPr/>
            </a:lvl1pPr>
          </a:lstStyle>
          <a:p>
            <a:pPr>
              <a:defRPr/>
            </a:pPr>
            <a:endParaRPr lang="en-US"/>
          </a:p>
        </p:txBody>
      </p:sp>
      <p:sp>
        <p:nvSpPr>
          <p:cNvPr id="9" name="Rectangle 10"/>
          <p:cNvSpPr>
            <a:spLocks noGrp="1" noChangeArrowheads="1"/>
          </p:cNvSpPr>
          <p:nvPr>
            <p:ph type="ftr" sz="quarter" idx="11"/>
          </p:nvPr>
        </p:nvSpPr>
        <p:spPr/>
        <p:txBody>
          <a:bodyPr/>
          <a:lstStyle>
            <a:lvl1pPr>
              <a:defRPr dirty="0"/>
            </a:lvl1pPr>
          </a:lstStyle>
          <a:p>
            <a:pPr>
              <a:defRPr/>
            </a:pPr>
            <a:endParaRPr lang="en-US"/>
          </a:p>
        </p:txBody>
      </p:sp>
      <p:sp>
        <p:nvSpPr>
          <p:cNvPr id="10" name="Rectangle 11"/>
          <p:cNvSpPr>
            <a:spLocks noGrp="1" noChangeArrowheads="1"/>
          </p:cNvSpPr>
          <p:nvPr>
            <p:ph type="sldNum" sz="quarter" idx="12"/>
          </p:nvPr>
        </p:nvSpPr>
        <p:spPr>
          <a:xfrm>
            <a:off x="8737600" y="6245225"/>
            <a:ext cx="2844800" cy="476250"/>
          </a:xfrm>
        </p:spPr>
        <p:txBody>
          <a:bodyPr/>
          <a:lstStyle>
            <a:lvl1pPr>
              <a:defRPr/>
            </a:lvl1pPr>
          </a:lstStyle>
          <a:p>
            <a:pPr>
              <a:defRPr/>
            </a:pPr>
            <a:fld id="{C769427D-8F79-4C6F-87D3-EBD21E8A50DF}" type="slidenum">
              <a:rPr lang="en-US"/>
              <a:pPr>
                <a:defRPr/>
              </a:pPr>
              <a:t>‹#›</a:t>
            </a:fld>
            <a:endParaRPr lang="en-US"/>
          </a:p>
        </p:txBody>
      </p:sp>
      <p:sp>
        <p:nvSpPr>
          <p:cNvPr id="12" name="Rectangle 25" descr="20%"/>
          <p:cNvSpPr>
            <a:spLocks noChangeArrowheads="1"/>
          </p:cNvSpPr>
          <p:nvPr userDrawn="1"/>
        </p:nvSpPr>
        <p:spPr bwMode="auto">
          <a:xfrm>
            <a:off x="0" y="838200"/>
            <a:ext cx="12192000" cy="4572000"/>
          </a:xfrm>
          <a:prstGeom prst="rect">
            <a:avLst/>
          </a:prstGeom>
          <a:pattFill prst="pct20">
            <a:fgClr>
              <a:srgbClr val="B2B2B2"/>
            </a:fgClr>
            <a:bgClr>
              <a:schemeClr val="bg1"/>
            </a:bgClr>
          </a:pattFill>
          <a:ln w="12700">
            <a:solidFill>
              <a:schemeClr val="bg2"/>
            </a:solidFill>
            <a:miter lim="800000"/>
            <a:headEnd/>
            <a:tailEnd/>
          </a:ln>
          <a:effectLst/>
        </p:spPr>
        <p:txBody>
          <a:bodyPr wrap="none" anchor="ctr"/>
          <a:lstStyle/>
          <a:p>
            <a:pPr>
              <a:defRPr/>
            </a:pPr>
            <a:endParaRPr lang="en-US" sz="1400"/>
          </a:p>
        </p:txBody>
      </p:sp>
    </p:spTree>
    <p:extLst>
      <p:ext uri="{BB962C8B-B14F-4D97-AF65-F5344CB8AC3E}">
        <p14:creationId xmlns:p14="http://schemas.microsoft.com/office/powerpoint/2010/main" val="903072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9"/>
          <p:cNvSpPr>
            <a:spLocks noGrp="1" noChangeArrowheads="1"/>
          </p:cNvSpPr>
          <p:nvPr>
            <p:ph type="sldNum" sz="quarter" idx="10"/>
          </p:nvPr>
        </p:nvSpPr>
        <p:spPr>
          <a:xfrm>
            <a:off x="9347200" y="6477000"/>
            <a:ext cx="2844800" cy="476250"/>
          </a:xfrm>
        </p:spPr>
        <p:txBody>
          <a:bodyPr/>
          <a:lstStyle>
            <a:lvl1pPr>
              <a:defRPr smtClean="0"/>
            </a:lvl1pPr>
          </a:lstStyle>
          <a:p>
            <a:pPr>
              <a:defRPr/>
            </a:pPr>
            <a:fld id="{639E97B8-4532-408E-A5F7-ACF05B64D361}" type="slidenum">
              <a:rPr lang="en-US"/>
              <a:pPr>
                <a:defRPr/>
              </a:pPr>
              <a:t>‹#›</a:t>
            </a:fld>
            <a:endParaRPr lang="en-US" dirty="0"/>
          </a:p>
        </p:txBody>
      </p:sp>
    </p:spTree>
    <p:extLst>
      <p:ext uri="{BB962C8B-B14F-4D97-AF65-F5344CB8AC3E}">
        <p14:creationId xmlns:p14="http://schemas.microsoft.com/office/powerpoint/2010/main" val="11615117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9"/>
          <p:cNvSpPr>
            <a:spLocks noGrp="1" noChangeArrowheads="1"/>
          </p:cNvSpPr>
          <p:nvPr>
            <p:ph type="sldNum" sz="quarter" idx="12"/>
          </p:nvPr>
        </p:nvSpPr>
        <p:spPr>
          <a:ln/>
        </p:spPr>
        <p:txBody>
          <a:bodyPr/>
          <a:lstStyle>
            <a:lvl1pPr>
              <a:defRPr/>
            </a:lvl1pPr>
          </a:lstStyle>
          <a:p>
            <a:pPr>
              <a:defRPr/>
            </a:pPr>
            <a:fld id="{56039845-206E-4D43-9E5F-DD43C0647861}" type="slidenum">
              <a:rPr lang="en-US"/>
              <a:pPr>
                <a:defRPr/>
              </a:pPr>
              <a:t>‹#›</a:t>
            </a:fld>
            <a:endParaRPr lang="en-US" dirty="0"/>
          </a:p>
        </p:txBody>
      </p:sp>
    </p:spTree>
    <p:extLst>
      <p:ext uri="{BB962C8B-B14F-4D97-AF65-F5344CB8AC3E}">
        <p14:creationId xmlns:p14="http://schemas.microsoft.com/office/powerpoint/2010/main" val="14627335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3200" y="0"/>
            <a:ext cx="11785600" cy="83820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1295401"/>
            <a:ext cx="6815667" cy="48307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609601" y="1295401"/>
            <a:ext cx="4011084" cy="4830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9"/>
          <p:cNvSpPr>
            <a:spLocks noGrp="1" noChangeArrowheads="1"/>
          </p:cNvSpPr>
          <p:nvPr>
            <p:ph type="sldNum" sz="quarter" idx="12"/>
          </p:nvPr>
        </p:nvSpPr>
        <p:spPr>
          <a:ln/>
        </p:spPr>
        <p:txBody>
          <a:bodyPr/>
          <a:lstStyle>
            <a:lvl1pPr>
              <a:defRPr/>
            </a:lvl1pPr>
          </a:lstStyle>
          <a:p>
            <a:pPr>
              <a:defRPr/>
            </a:pPr>
            <a:fld id="{B81FF7B5-9D7B-436A-A6D4-49B4434E5AC0}" type="slidenum">
              <a:rPr lang="en-US"/>
              <a:pPr>
                <a:defRPr/>
              </a:pPr>
              <a:t>‹#›</a:t>
            </a:fld>
            <a:endParaRPr lang="en-US" dirty="0"/>
          </a:p>
        </p:txBody>
      </p:sp>
    </p:spTree>
    <p:extLst>
      <p:ext uri="{BB962C8B-B14F-4D97-AF65-F5344CB8AC3E}">
        <p14:creationId xmlns:p14="http://schemas.microsoft.com/office/powerpoint/2010/main" val="10651253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1143000"/>
            <a:ext cx="7315200" cy="35845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9"/>
          <p:cNvSpPr>
            <a:spLocks noGrp="1" noChangeArrowheads="1"/>
          </p:cNvSpPr>
          <p:nvPr>
            <p:ph type="sldNum" sz="quarter" idx="12"/>
          </p:nvPr>
        </p:nvSpPr>
        <p:spPr>
          <a:ln/>
        </p:spPr>
        <p:txBody>
          <a:bodyPr/>
          <a:lstStyle>
            <a:lvl1pPr>
              <a:defRPr/>
            </a:lvl1pPr>
          </a:lstStyle>
          <a:p>
            <a:pPr>
              <a:defRPr/>
            </a:pPr>
            <a:fld id="{2A6CBEDA-3B93-4B7E-AD18-2612E61E132F}" type="slidenum">
              <a:rPr lang="en-US"/>
              <a:pPr>
                <a:defRPr/>
              </a:pPr>
              <a:t>‹#›</a:t>
            </a:fld>
            <a:endParaRPr lang="en-US" dirty="0"/>
          </a:p>
        </p:txBody>
      </p:sp>
    </p:spTree>
    <p:extLst>
      <p:ext uri="{BB962C8B-B14F-4D97-AF65-F5344CB8AC3E}">
        <p14:creationId xmlns:p14="http://schemas.microsoft.com/office/powerpoint/2010/main" val="141980660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theme" Target="../theme/theme2.xml"/><Relationship Id="rId7" Type="http://schemas.openxmlformats.org/officeDocument/2006/relationships/image" Target="../media/image3.wmf"/><Relationship Id="rId8" Type="http://schemas.openxmlformats.org/officeDocument/2006/relationships/image" Target="../media/image4.png"/><Relationship Id="rId9" Type="http://schemas.openxmlformats.org/officeDocument/2006/relationships/image" Target="../media/image5.png"/><Relationship Id="rId1" Type="http://schemas.openxmlformats.org/officeDocument/2006/relationships/slideLayout" Target="../slideLayouts/slideLayout14.xml"/><Relationship Id="rId2"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rtl="0">
              <a:spcBef>
                <a:spcPts val="0"/>
              </a:spcBef>
              <a:buSzPct val="25000"/>
              <a:buNone/>
            </a:pPr>
            <a:fld id="{00000000-1234-1234-1234-123412341234}" type="slidenum">
              <a:rPr lang="en-US" sz="1200" b="0" i="0" u="none" strike="noStrike" cap="none" baseline="0" smtClean="0">
                <a:solidFill>
                  <a:srgbClr val="888888"/>
                </a:solidFill>
                <a:latin typeface="Calibri"/>
                <a:ea typeface="Calibri"/>
                <a:cs typeface="Calibri"/>
                <a:sym typeface="Calibri"/>
              </a:rPr>
              <a:t>‹#›</a:t>
            </a:fld>
            <a:endParaRPr lang="en-US" sz="1200" b="0" i="0" u="none" strike="noStrike" cap="none" baseline="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203905570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93"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3"/>
          <p:cNvPicPr>
            <a:picLocks noChangeAspect="1" noChangeArrowheads="1"/>
          </p:cNvPicPr>
          <p:nvPr/>
        </p:nvPicPr>
        <p:blipFill>
          <a:blip r:embed="rId7" cstate="print">
            <a:lum bright="-12000"/>
          </a:blip>
          <a:srcRect l="10411" t="6494" r="71910" b="6660"/>
          <a:stretch>
            <a:fillRect/>
          </a:stretch>
        </p:blipFill>
        <p:spPr bwMode="auto">
          <a:xfrm rot="5400000">
            <a:off x="5550694" y="-5574506"/>
            <a:ext cx="1090613" cy="12192000"/>
          </a:xfrm>
          <a:prstGeom prst="rect">
            <a:avLst/>
          </a:prstGeom>
          <a:noFill/>
          <a:ln w="9525">
            <a:noFill/>
            <a:miter lim="800000"/>
            <a:headEnd/>
            <a:tailEnd/>
          </a:ln>
        </p:spPr>
      </p:pic>
      <p:pic>
        <p:nvPicPr>
          <p:cNvPr id="1027" name="Picture 4"/>
          <p:cNvPicPr>
            <a:picLocks noChangeAspect="1" noChangeArrowheads="1"/>
          </p:cNvPicPr>
          <p:nvPr/>
        </p:nvPicPr>
        <p:blipFill>
          <a:blip r:embed="rId7" cstate="print">
            <a:lum bright="-12000" contrast="36000"/>
          </a:blip>
          <a:srcRect l="10411" t="7950" r="86899" b="6599"/>
          <a:stretch>
            <a:fillRect/>
          </a:stretch>
        </p:blipFill>
        <p:spPr bwMode="auto">
          <a:xfrm rot="5400000">
            <a:off x="6020594" y="-5025231"/>
            <a:ext cx="150812" cy="12192000"/>
          </a:xfrm>
          <a:prstGeom prst="rect">
            <a:avLst/>
          </a:prstGeom>
          <a:noFill/>
          <a:ln w="9525" algn="ctr">
            <a:noFill/>
            <a:miter lim="800000"/>
            <a:headEnd/>
            <a:tailEnd/>
          </a:ln>
        </p:spPr>
      </p:pic>
      <p:sp>
        <p:nvSpPr>
          <p:cNvPr id="1028" name="Rectangle 5"/>
          <p:cNvSpPr>
            <a:spLocks noGrp="1" noChangeArrowheads="1"/>
          </p:cNvSpPr>
          <p:nvPr>
            <p:ph type="title"/>
          </p:nvPr>
        </p:nvSpPr>
        <p:spPr bwMode="auto">
          <a:xfrm>
            <a:off x="609600" y="-76200"/>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9" name="Rectangle 6"/>
          <p:cNvSpPr>
            <a:spLocks noGrp="1" noChangeArrowheads="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175" name="Rectangle 7"/>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cs typeface="Arial" charset="0"/>
              </a:defRPr>
            </a:lvl1pPr>
          </a:lstStyle>
          <a:p>
            <a:pPr>
              <a:defRPr/>
            </a:pPr>
            <a:endParaRPr lang="en-US"/>
          </a:p>
        </p:txBody>
      </p:sp>
      <p:sp>
        <p:nvSpPr>
          <p:cNvPr id="7176" name="Rectangle 8"/>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endParaRPr lang="en-US"/>
          </a:p>
        </p:txBody>
      </p:sp>
      <p:sp>
        <p:nvSpPr>
          <p:cNvPr id="7177" name="Rectangle 9"/>
          <p:cNvSpPr>
            <a:spLocks noGrp="1" noChangeArrowheads="1"/>
          </p:cNvSpPr>
          <p:nvPr>
            <p:ph type="sldNum" sz="quarter" idx="4"/>
          </p:nvPr>
        </p:nvSpPr>
        <p:spPr bwMode="auto">
          <a:xfrm>
            <a:off x="9347200" y="6381750"/>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atin typeface="Arial" charset="0"/>
                <a:cs typeface="Arial" charset="0"/>
              </a:defRPr>
            </a:lvl1pPr>
          </a:lstStyle>
          <a:p>
            <a:pPr>
              <a:defRPr/>
            </a:pPr>
            <a:fld id="{0503D5C5-EF64-4F77-BCD6-10AECA57BA2E}" type="slidenum">
              <a:rPr lang="en-US"/>
              <a:pPr>
                <a:defRPr/>
              </a:pPr>
              <a:t>‹#›</a:t>
            </a:fld>
            <a:endParaRPr lang="en-US" dirty="0"/>
          </a:p>
        </p:txBody>
      </p:sp>
      <p:sp>
        <p:nvSpPr>
          <p:cNvPr id="7179" name="Line 11"/>
          <p:cNvSpPr>
            <a:spLocks noChangeShapeType="1"/>
          </p:cNvSpPr>
          <p:nvPr/>
        </p:nvSpPr>
        <p:spPr bwMode="auto">
          <a:xfrm>
            <a:off x="1422400" y="6324600"/>
            <a:ext cx="8940800" cy="0"/>
          </a:xfrm>
          <a:prstGeom prst="line">
            <a:avLst/>
          </a:prstGeom>
          <a:noFill/>
          <a:ln w="28575">
            <a:solidFill>
              <a:srgbClr val="3E0000"/>
            </a:solidFill>
            <a:round/>
            <a:headEnd/>
            <a:tailEnd/>
          </a:ln>
          <a:effectLst/>
        </p:spPr>
        <p:txBody>
          <a:bodyPr/>
          <a:lstStyle/>
          <a:p>
            <a:pPr>
              <a:defRPr/>
            </a:pPr>
            <a:endParaRPr lang="en-US" sz="1400"/>
          </a:p>
        </p:txBody>
      </p:sp>
      <p:sp>
        <p:nvSpPr>
          <p:cNvPr id="7181" name="Line 13"/>
          <p:cNvSpPr>
            <a:spLocks noChangeShapeType="1"/>
          </p:cNvSpPr>
          <p:nvPr/>
        </p:nvSpPr>
        <p:spPr bwMode="auto">
          <a:xfrm>
            <a:off x="0" y="1000125"/>
            <a:ext cx="12192000" cy="0"/>
          </a:xfrm>
          <a:prstGeom prst="line">
            <a:avLst/>
          </a:prstGeom>
          <a:noFill/>
          <a:ln w="9525">
            <a:solidFill>
              <a:schemeClr val="bg2"/>
            </a:solidFill>
            <a:round/>
            <a:headEnd/>
            <a:tailEnd/>
          </a:ln>
          <a:effectLst/>
        </p:spPr>
        <p:txBody>
          <a:bodyPr/>
          <a:lstStyle/>
          <a:p>
            <a:pPr>
              <a:defRPr/>
            </a:pPr>
            <a:endParaRPr lang="en-US" sz="1400"/>
          </a:p>
        </p:txBody>
      </p:sp>
      <p:pic>
        <p:nvPicPr>
          <p:cNvPr id="1036" name="Picture 14" descr="Name and Title"/>
          <p:cNvPicPr>
            <a:picLocks noChangeAspect="1" noChangeArrowheads="1"/>
          </p:cNvPicPr>
          <p:nvPr/>
        </p:nvPicPr>
        <p:blipFill>
          <a:blip r:embed="rId8" cstate="print">
            <a:clrChange>
              <a:clrFrom>
                <a:srgbClr val="FFFFFF"/>
              </a:clrFrom>
              <a:clrTo>
                <a:srgbClr val="FFFFFF">
                  <a:alpha val="0"/>
                </a:srgbClr>
              </a:clrTo>
            </a:clrChange>
          </a:blip>
          <a:srcRect t="44980"/>
          <a:stretch>
            <a:fillRect/>
          </a:stretch>
        </p:blipFill>
        <p:spPr bwMode="auto">
          <a:xfrm>
            <a:off x="6908800" y="6354764"/>
            <a:ext cx="3454400" cy="503237"/>
          </a:xfrm>
          <a:prstGeom prst="rect">
            <a:avLst/>
          </a:prstGeom>
          <a:noFill/>
          <a:ln w="9525">
            <a:noFill/>
            <a:miter lim="800000"/>
            <a:headEnd/>
            <a:tailEnd/>
          </a:ln>
        </p:spPr>
      </p:pic>
      <p:pic>
        <p:nvPicPr>
          <p:cNvPr id="2050" name="Picture 2"/>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10416029" y="5829599"/>
            <a:ext cx="1267971" cy="950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217902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Lst>
  <p:hf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Tahoma" pitchFamily="34" charset="0"/>
          <a:cs typeface="Arial" charset="0"/>
        </a:defRPr>
      </a:lvl2pPr>
      <a:lvl3pPr algn="ctr" rtl="0" eaLnBrk="0" fontAlgn="base" hangingPunct="0">
        <a:spcBef>
          <a:spcPct val="0"/>
        </a:spcBef>
        <a:spcAft>
          <a:spcPct val="0"/>
        </a:spcAft>
        <a:defRPr sz="3600">
          <a:solidFill>
            <a:schemeClr val="bg1"/>
          </a:solidFill>
          <a:latin typeface="Tahoma" pitchFamily="34" charset="0"/>
          <a:cs typeface="Arial" charset="0"/>
        </a:defRPr>
      </a:lvl3pPr>
      <a:lvl4pPr algn="ctr" rtl="0" eaLnBrk="0" fontAlgn="base" hangingPunct="0">
        <a:spcBef>
          <a:spcPct val="0"/>
        </a:spcBef>
        <a:spcAft>
          <a:spcPct val="0"/>
        </a:spcAft>
        <a:defRPr sz="3600">
          <a:solidFill>
            <a:schemeClr val="bg1"/>
          </a:solidFill>
          <a:latin typeface="Tahoma" pitchFamily="34" charset="0"/>
          <a:cs typeface="Arial" charset="0"/>
        </a:defRPr>
      </a:lvl4pPr>
      <a:lvl5pPr algn="ctr" rtl="0" eaLnBrk="0" fontAlgn="base" hangingPunct="0">
        <a:spcBef>
          <a:spcPct val="0"/>
        </a:spcBef>
        <a:spcAft>
          <a:spcPct val="0"/>
        </a:spcAft>
        <a:defRPr sz="3600">
          <a:solidFill>
            <a:schemeClr val="bg1"/>
          </a:solidFill>
          <a:latin typeface="Tahoma" pitchFamily="34" charset="0"/>
          <a:cs typeface="Arial" charset="0"/>
        </a:defRPr>
      </a:lvl5pPr>
      <a:lvl6pPr marL="457200" algn="ctr" rtl="0" eaLnBrk="1" fontAlgn="base" hangingPunct="1">
        <a:spcBef>
          <a:spcPct val="0"/>
        </a:spcBef>
        <a:spcAft>
          <a:spcPct val="0"/>
        </a:spcAft>
        <a:defRPr sz="3600">
          <a:solidFill>
            <a:schemeClr val="bg1"/>
          </a:solidFill>
          <a:latin typeface="Tahoma" pitchFamily="34" charset="0"/>
          <a:cs typeface="Arial" charset="0"/>
        </a:defRPr>
      </a:lvl6pPr>
      <a:lvl7pPr marL="914400" algn="ctr" rtl="0" eaLnBrk="1" fontAlgn="base" hangingPunct="1">
        <a:spcBef>
          <a:spcPct val="0"/>
        </a:spcBef>
        <a:spcAft>
          <a:spcPct val="0"/>
        </a:spcAft>
        <a:defRPr sz="3600">
          <a:solidFill>
            <a:schemeClr val="bg1"/>
          </a:solidFill>
          <a:latin typeface="Tahoma" pitchFamily="34" charset="0"/>
          <a:cs typeface="Arial" charset="0"/>
        </a:defRPr>
      </a:lvl7pPr>
      <a:lvl8pPr marL="1371600" algn="ctr" rtl="0" eaLnBrk="1" fontAlgn="base" hangingPunct="1">
        <a:spcBef>
          <a:spcPct val="0"/>
        </a:spcBef>
        <a:spcAft>
          <a:spcPct val="0"/>
        </a:spcAft>
        <a:defRPr sz="3600">
          <a:solidFill>
            <a:schemeClr val="bg1"/>
          </a:solidFill>
          <a:latin typeface="Tahoma" pitchFamily="34" charset="0"/>
          <a:cs typeface="Arial" charset="0"/>
        </a:defRPr>
      </a:lvl8pPr>
      <a:lvl9pPr marL="1828800" algn="ctr" rtl="0" eaLnBrk="1" fontAlgn="base" hangingPunct="1">
        <a:spcBef>
          <a:spcPct val="0"/>
        </a:spcBef>
        <a:spcAft>
          <a:spcPct val="0"/>
        </a:spcAft>
        <a:defRPr sz="3600">
          <a:solidFill>
            <a:schemeClr val="bg1"/>
          </a:solidFill>
          <a:latin typeface="Tahoma" pitchFamily="34"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733800" y="3200400"/>
            <a:ext cx="5029200" cy="1092607"/>
          </a:xfrm>
          <a:prstGeom prst="rect">
            <a:avLst/>
          </a:prstGeom>
        </p:spPr>
        <p:txBody>
          <a:bodyPr wrap="square">
            <a:spAutoFit/>
          </a:bodyPr>
          <a:lstStyle/>
          <a:p>
            <a:pPr lvl="2" algn="ctr" fontAlgn="base">
              <a:lnSpc>
                <a:spcPct val="150000"/>
              </a:lnSpc>
              <a:spcBef>
                <a:spcPts val="600"/>
              </a:spcBef>
              <a:spcAft>
                <a:spcPct val="0"/>
              </a:spcAft>
              <a:defRPr/>
            </a:pPr>
            <a:r>
              <a:rPr lang="en-US" sz="2400" dirty="0" smtClean="0">
                <a:solidFill>
                  <a:schemeClr val="tx1">
                    <a:lumMod val="75000"/>
                    <a:lumOff val="25000"/>
                  </a:schemeClr>
                </a:solidFill>
                <a:latin typeface="+mn-lt"/>
              </a:rPr>
              <a:t>Embedded System and Codesign Lab</a:t>
            </a:r>
          </a:p>
          <a:p>
            <a:pPr lvl="2" algn="ctr" fontAlgn="base">
              <a:lnSpc>
                <a:spcPct val="150000"/>
              </a:lnSpc>
              <a:spcBef>
                <a:spcPts val="600"/>
              </a:spcBef>
              <a:spcAft>
                <a:spcPct val="0"/>
              </a:spcAft>
              <a:defRPr/>
            </a:pPr>
            <a:r>
              <a:rPr lang="en-US" sz="1600" dirty="0" smtClean="0">
                <a:solidFill>
                  <a:schemeClr val="tx1">
                    <a:lumMod val="75000"/>
                    <a:lumOff val="25000"/>
                  </a:schemeClr>
                </a:solidFill>
                <a:latin typeface="+mn-lt"/>
              </a:rPr>
              <a:t>Dept. of Computer Science and Engineering</a:t>
            </a:r>
            <a:endParaRPr lang="en-US" sz="1600" dirty="0">
              <a:solidFill>
                <a:schemeClr val="tx1">
                  <a:lumMod val="75000"/>
                  <a:lumOff val="25000"/>
                </a:schemeClr>
              </a:solidFill>
              <a:latin typeface="+mn-lt"/>
            </a:endParaRPr>
          </a:p>
        </p:txBody>
      </p:sp>
      <p:sp>
        <p:nvSpPr>
          <p:cNvPr id="9227" name="Text Box 11"/>
          <p:cNvSpPr txBox="1">
            <a:spLocks noChangeArrowheads="1"/>
          </p:cNvSpPr>
          <p:nvPr/>
        </p:nvSpPr>
        <p:spPr bwMode="auto">
          <a:xfrm>
            <a:off x="2667000" y="1847672"/>
            <a:ext cx="7162800" cy="1508105"/>
          </a:xfrm>
          <a:prstGeom prst="rect">
            <a:avLst/>
          </a:prstGeom>
          <a:noFill/>
          <a:ln w="9525">
            <a:noFill/>
            <a:miter lim="800000"/>
            <a:headEnd/>
            <a:tailEnd/>
          </a:ln>
          <a:effectLst/>
        </p:spPr>
        <p:txBody>
          <a:bodyPr>
            <a:spAutoFit/>
          </a:bodyPr>
          <a:lstStyle/>
          <a:p>
            <a:pPr algn="ctr" fontAlgn="base">
              <a:spcBef>
                <a:spcPct val="50000"/>
              </a:spcBef>
              <a:spcAft>
                <a:spcPct val="0"/>
              </a:spcAft>
              <a:defRPr/>
            </a:pPr>
            <a:r>
              <a:rPr lang="en-US" sz="4400" b="1" dirty="0" smtClean="0">
                <a:solidFill>
                  <a:srgbClr val="808080">
                    <a:lumMod val="50000"/>
                  </a:srgbClr>
                </a:solidFill>
                <a:effectLst>
                  <a:outerShdw blurRad="38100" dist="38100" dir="2700000" algn="tl">
                    <a:srgbClr val="C0C0C0"/>
                  </a:outerShdw>
                </a:effectLst>
                <a:latin typeface="+mj-lt"/>
              </a:rPr>
              <a:t>IoT Infrastructure</a:t>
            </a:r>
          </a:p>
          <a:p>
            <a:pPr algn="ctr" fontAlgn="base">
              <a:spcBef>
                <a:spcPct val="50000"/>
              </a:spcBef>
              <a:spcAft>
                <a:spcPct val="0"/>
              </a:spcAft>
              <a:defRPr/>
            </a:pPr>
            <a:endParaRPr lang="en-US" sz="3200" b="1" dirty="0">
              <a:solidFill>
                <a:srgbClr val="808080">
                  <a:lumMod val="50000"/>
                </a:srgbClr>
              </a:solidFill>
              <a:effectLst>
                <a:outerShdw blurRad="38100" dist="38100" dir="2700000" algn="tl">
                  <a:srgbClr val="C0C0C0"/>
                </a:outerShdw>
              </a:effectLst>
              <a:latin typeface="Verdana" pitchFamily="34" charset="0"/>
            </a:endParaRPr>
          </a:p>
        </p:txBody>
      </p:sp>
      <p:cxnSp>
        <p:nvCxnSpPr>
          <p:cNvPr id="18" name="Straight Connector 17"/>
          <p:cNvCxnSpPr/>
          <p:nvPr/>
        </p:nvCxnSpPr>
        <p:spPr>
          <a:xfrm>
            <a:off x="2883243" y="2667000"/>
            <a:ext cx="6705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883243" y="5874313"/>
            <a:ext cx="2115671" cy="615553"/>
          </a:xfrm>
          <a:prstGeom prst="rect">
            <a:avLst/>
          </a:prstGeom>
          <a:noFill/>
        </p:spPr>
        <p:txBody>
          <a:bodyPr wrap="square">
            <a:spAutoFit/>
          </a:bodyPr>
          <a:lstStyle/>
          <a:p>
            <a:pPr fontAlgn="base">
              <a:spcBef>
                <a:spcPct val="0"/>
              </a:spcBef>
              <a:spcAft>
                <a:spcPct val="0"/>
              </a:spcAft>
              <a:defRPr/>
            </a:pPr>
            <a:r>
              <a:rPr lang="en-US" sz="1800" b="1" dirty="0" smtClean="0">
                <a:solidFill>
                  <a:srgbClr val="FFFFFF"/>
                </a:solidFill>
                <a:latin typeface="+mn-lt"/>
              </a:rPr>
              <a:t>Siddhant </a:t>
            </a:r>
            <a:r>
              <a:rPr lang="en-US" sz="1800" b="1" dirty="0">
                <a:solidFill>
                  <a:srgbClr val="FFFFFF"/>
                </a:solidFill>
                <a:latin typeface="+mn-lt"/>
              </a:rPr>
              <a:t>Rath</a:t>
            </a:r>
          </a:p>
          <a:p>
            <a:pPr fontAlgn="base">
              <a:spcBef>
                <a:spcPct val="0"/>
              </a:spcBef>
              <a:spcAft>
                <a:spcPct val="0"/>
              </a:spcAft>
              <a:defRPr/>
            </a:pPr>
            <a:r>
              <a:rPr lang="en-US" sz="1600" b="1" dirty="0" smtClean="0">
                <a:solidFill>
                  <a:srgbClr val="FFFFFF"/>
                </a:solidFill>
                <a:latin typeface="+mn-lt"/>
              </a:rPr>
              <a:t>sid@tamu.edu</a:t>
            </a:r>
            <a:endParaRPr lang="en-US" sz="1600" dirty="0">
              <a:solidFill>
                <a:srgbClr val="FFFFFF"/>
              </a:solidFill>
              <a:latin typeface="+mn-lt"/>
            </a:endParaRPr>
          </a:p>
        </p:txBody>
      </p:sp>
      <p:pic>
        <p:nvPicPr>
          <p:cNvPr id="1027" name="Picture 3" descr="C:\Users\glea\OneDrive\Documents\MarComm\System_Seals\Maroon_RGB_L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6400" y="4034134"/>
            <a:ext cx="1103378" cy="110337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7473172" y="5874312"/>
            <a:ext cx="2115671" cy="615553"/>
          </a:xfrm>
          <a:prstGeom prst="rect">
            <a:avLst/>
          </a:prstGeom>
          <a:noFill/>
        </p:spPr>
        <p:txBody>
          <a:bodyPr wrap="square">
            <a:spAutoFit/>
          </a:bodyPr>
          <a:lstStyle/>
          <a:p>
            <a:pPr fontAlgn="base">
              <a:spcBef>
                <a:spcPct val="0"/>
              </a:spcBef>
              <a:spcAft>
                <a:spcPct val="0"/>
              </a:spcAft>
              <a:defRPr/>
            </a:pPr>
            <a:r>
              <a:rPr lang="en-US" sz="1800" b="1" dirty="0" smtClean="0">
                <a:solidFill>
                  <a:srgbClr val="FFFFFF"/>
                </a:solidFill>
                <a:latin typeface="+mn-lt"/>
              </a:rPr>
              <a:t>Ghanshyam Bhutra</a:t>
            </a:r>
          </a:p>
          <a:p>
            <a:pPr fontAlgn="base">
              <a:spcBef>
                <a:spcPct val="0"/>
              </a:spcBef>
              <a:spcAft>
                <a:spcPct val="0"/>
              </a:spcAft>
              <a:defRPr/>
            </a:pPr>
            <a:r>
              <a:rPr lang="en-US" sz="1600" b="1" dirty="0" smtClean="0">
                <a:solidFill>
                  <a:srgbClr val="FFFFFF"/>
                </a:solidFill>
                <a:latin typeface="+mn-lt"/>
              </a:rPr>
              <a:t>gbhutra@tamu.edu</a:t>
            </a:r>
            <a:endParaRPr lang="en-US" sz="1600" dirty="0">
              <a:solidFill>
                <a:srgbClr val="FFFFFF"/>
              </a:solidFill>
              <a:latin typeface="+mn-lt"/>
            </a:endParaRPr>
          </a:p>
        </p:txBody>
      </p:sp>
    </p:spTree>
    <p:extLst>
      <p:ext uri="{BB962C8B-B14F-4D97-AF65-F5344CB8AC3E}">
        <p14:creationId xmlns:p14="http://schemas.microsoft.com/office/powerpoint/2010/main" val="895425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Shape 87"/>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400" b="0" i="0" u="none" strike="noStrike" cap="none" baseline="0" dirty="0">
                <a:solidFill>
                  <a:schemeClr val="dk1"/>
                </a:solidFill>
                <a:ea typeface="Calibri"/>
                <a:cs typeface="Calibri"/>
                <a:sym typeface="Calibri"/>
              </a:rPr>
              <a:t>What is IoT?</a:t>
            </a:r>
          </a:p>
        </p:txBody>
      </p:sp>
      <p:sp>
        <p:nvSpPr>
          <p:cNvPr id="88" name="Shape 88"/>
          <p:cNvSpPr txBox="1">
            <a:spLocks noGrp="1"/>
          </p:cNvSpPr>
          <p:nvPr>
            <p:ph idx="1"/>
          </p:nvPr>
        </p:nvSpPr>
        <p:spPr>
          <a:prstGeom prst="rect">
            <a:avLst/>
          </a:prstGeom>
          <a:noFill/>
          <a:ln>
            <a:noFill/>
          </a:ln>
        </p:spPr>
        <p:txBody>
          <a:bodyPr lIns="91425" tIns="45700" rIns="91425" bIns="45700" anchor="t" anchorCtr="0">
            <a:noAutofit/>
          </a:bodyPr>
          <a:lstStyle/>
          <a:p>
            <a:pPr marL="0" marR="0" lvl="0" indent="0" algn="l" rtl="0">
              <a:lnSpc>
                <a:spcPct val="70000"/>
              </a:lnSpc>
              <a:spcBef>
                <a:spcPts val="0"/>
              </a:spcBef>
              <a:buClr>
                <a:schemeClr val="dk1"/>
              </a:buClr>
              <a:buSzPct val="25000"/>
              <a:buFont typeface="Arial"/>
              <a:buNone/>
            </a:pPr>
            <a:r>
              <a:rPr lang="en-US" sz="2170" b="0" i="0" u="none" strike="noStrike" cap="none" baseline="0" dirty="0">
                <a:solidFill>
                  <a:schemeClr val="dk1"/>
                </a:solidFill>
                <a:latin typeface="Calibri"/>
                <a:ea typeface="Calibri"/>
                <a:cs typeface="Calibri"/>
                <a:sym typeface="Calibri"/>
              </a:rPr>
              <a:t>There are several takes on the definition of IoT</a:t>
            </a:r>
          </a:p>
          <a:p>
            <a:pPr marL="228600" marR="0" lvl="0" indent="-228600" algn="l" rtl="0">
              <a:lnSpc>
                <a:spcPct val="70000"/>
              </a:lnSpc>
              <a:spcBef>
                <a:spcPts val="1000"/>
              </a:spcBef>
              <a:buClr>
                <a:schemeClr val="dk1"/>
              </a:buClr>
              <a:buSzPct val="98636"/>
              <a:buFont typeface="Arial"/>
              <a:buChar char="•"/>
            </a:pPr>
            <a:r>
              <a:rPr lang="en-US" sz="2170" b="0" i="0" u="none" strike="noStrike" cap="none" baseline="0" dirty="0">
                <a:solidFill>
                  <a:schemeClr val="dk1"/>
                </a:solidFill>
                <a:latin typeface="Calibri"/>
                <a:ea typeface="Calibri"/>
                <a:cs typeface="Calibri"/>
                <a:sym typeface="Calibri"/>
              </a:rPr>
              <a:t>The term “Internet of Things” was coined by British entrepreneur Kevin Ashton in 1999</a:t>
            </a:r>
          </a:p>
          <a:p>
            <a:pPr marL="228600" marR="0" lvl="0" indent="-228600" algn="l" rtl="0">
              <a:lnSpc>
                <a:spcPct val="70000"/>
              </a:lnSpc>
              <a:spcBef>
                <a:spcPts val="1000"/>
              </a:spcBef>
              <a:buClr>
                <a:schemeClr val="dk1"/>
              </a:buClr>
              <a:buSzPct val="98636"/>
              <a:buFont typeface="Arial"/>
              <a:buChar char="•"/>
            </a:pPr>
            <a:r>
              <a:rPr lang="en-US" sz="2170" b="0" i="0" u="none" strike="noStrike" cap="none" baseline="0" dirty="0">
                <a:solidFill>
                  <a:schemeClr val="dk1"/>
                </a:solidFill>
                <a:latin typeface="Calibri"/>
                <a:ea typeface="Calibri"/>
                <a:cs typeface="Calibri"/>
                <a:sym typeface="Calibri"/>
              </a:rPr>
              <a:t>The Internet of Things (IoT) is the network of physical objects or "things" embedded with electronics, software, sensors, and network connectivity, which enables these objects to collect and exchange data.                                                                                                </a:t>
            </a:r>
          </a:p>
          <a:p>
            <a:pPr marL="228600" marR="0" lvl="0" indent="-228600" algn="l" rtl="0">
              <a:lnSpc>
                <a:spcPct val="70000"/>
              </a:lnSpc>
              <a:spcBef>
                <a:spcPts val="1000"/>
              </a:spcBef>
              <a:buClr>
                <a:schemeClr val="dk1"/>
              </a:buClr>
              <a:buSzPct val="98636"/>
              <a:buFont typeface="Arial"/>
              <a:buChar char="•"/>
            </a:pPr>
            <a:r>
              <a:rPr lang="en-US" sz="2170" b="0" i="0" u="none" strike="noStrike" cap="none" baseline="0" dirty="0">
                <a:solidFill>
                  <a:schemeClr val="dk1"/>
                </a:solidFill>
                <a:latin typeface="Calibri"/>
                <a:ea typeface="Calibri"/>
                <a:cs typeface="Calibri"/>
                <a:sym typeface="Calibri"/>
              </a:rPr>
              <a:t>The Internet of Things (IoT) is an environment in which objects, animals or people are provided with unique identifiers and the ability to transfer data over a network without requiring human-to-human or human-to-computer interaction.       </a:t>
            </a:r>
          </a:p>
          <a:p>
            <a:pPr marL="228600" marR="0" lvl="0" indent="-228600" algn="l" rtl="0">
              <a:lnSpc>
                <a:spcPct val="70000"/>
              </a:lnSpc>
              <a:spcBef>
                <a:spcPts val="1000"/>
              </a:spcBef>
              <a:buClr>
                <a:schemeClr val="dk1"/>
              </a:buClr>
              <a:buSzPct val="98636"/>
              <a:buFont typeface="Arial"/>
              <a:buChar char="•"/>
            </a:pPr>
            <a:r>
              <a:rPr lang="en-US" sz="2170" b="0" i="0" u="none" strike="noStrike" cap="none" baseline="0" dirty="0">
                <a:solidFill>
                  <a:schemeClr val="dk1"/>
                </a:solidFill>
                <a:latin typeface="Calibri"/>
                <a:ea typeface="Calibri"/>
                <a:cs typeface="Calibri"/>
                <a:sym typeface="Calibri"/>
              </a:rPr>
              <a:t>The Internet of Things (IoT) is an umbrella term used to describe a next step in the evolution of the Internet. While the first phase of the web can be thought of as a combination of an internet of hyper text documents and an internet of applications (think blogs, online email, social sites, etc.), one of the next steps is an Internet of augmented ‘smart’ objects – or ‘things’ – being accessible to human beings and each other over network connections. This is the internet of Things.</a:t>
            </a:r>
          </a:p>
        </p:txBody>
      </p:sp>
    </p:spTree>
  </p:cSld>
  <p:clrMapOvr>
    <a:masterClrMapping/>
  </p:clrMapOvr>
  <p:transition spd="slow">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Shape 93"/>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400" b="0" i="0" u="none" strike="noStrike" cap="none" baseline="0" dirty="0">
                <a:solidFill>
                  <a:schemeClr val="dk1"/>
                </a:solidFill>
                <a:ea typeface="Calibri"/>
                <a:cs typeface="Calibri"/>
                <a:sym typeface="Calibri"/>
              </a:rPr>
              <a:t>IoT Growth</a:t>
            </a:r>
          </a:p>
        </p:txBody>
      </p:sp>
      <p:sp>
        <p:nvSpPr>
          <p:cNvPr id="94" name="Shape 94"/>
          <p:cNvSpPr txBox="1">
            <a:spLocks noGrp="1"/>
          </p:cNvSpPr>
          <p:nvPr>
            <p:ph idx="1"/>
          </p:nvPr>
        </p:nvSpPr>
        <p:spPr>
          <a:prstGeom prst="rect">
            <a:avLst/>
          </a:prstGeom>
          <a:noFill/>
          <a:ln>
            <a:noFill/>
          </a:ln>
        </p:spPr>
        <p:txBody>
          <a:bodyPr lIns="91425" tIns="45700" rIns="91425" bIns="45700" anchor="t" anchorCtr="0">
            <a:noAutofit/>
          </a:bodyPr>
          <a:lstStyle/>
          <a:p>
            <a:pPr marL="228600" marR="0" lvl="0" indent="-228600" algn="l" rtl="0">
              <a:lnSpc>
                <a:spcPct val="70000"/>
              </a:lnSpc>
              <a:spcBef>
                <a:spcPts val="0"/>
              </a:spcBef>
              <a:buClr>
                <a:schemeClr val="dk1"/>
              </a:buClr>
              <a:buSzPct val="98636"/>
              <a:buFont typeface="Arial"/>
              <a:buChar char="•"/>
            </a:pPr>
            <a:r>
              <a:rPr lang="en-US" sz="2170" b="0" i="0" u="none" strike="noStrike" cap="none" baseline="0" dirty="0">
                <a:solidFill>
                  <a:schemeClr val="dk1"/>
                </a:solidFill>
                <a:latin typeface="Calibri"/>
                <a:ea typeface="Calibri"/>
                <a:cs typeface="Calibri"/>
                <a:sym typeface="Calibri"/>
              </a:rPr>
              <a:t>Cisco estimates the IoT will consist of 50 billion devices connected to the Internet by 2020.</a:t>
            </a:r>
          </a:p>
          <a:p>
            <a:pPr marL="228600" marR="0" lvl="0" indent="-228600" algn="l" rtl="0">
              <a:lnSpc>
                <a:spcPct val="70000"/>
              </a:lnSpc>
              <a:spcBef>
                <a:spcPts val="1000"/>
              </a:spcBef>
              <a:buClr>
                <a:schemeClr val="dk1"/>
              </a:buClr>
              <a:buSzPct val="98636"/>
              <a:buFont typeface="Arial"/>
              <a:buChar char="•"/>
            </a:pPr>
            <a:r>
              <a:rPr lang="en-US" sz="2170" b="0" i="0" u="none" strike="noStrike" cap="none" baseline="0" dirty="0">
                <a:solidFill>
                  <a:schemeClr val="dk1"/>
                </a:solidFill>
                <a:latin typeface="Calibri"/>
                <a:ea typeface="Calibri"/>
                <a:cs typeface="Calibri"/>
                <a:sym typeface="Calibri"/>
              </a:rPr>
              <a:t>The “Internet of Things” is exploding. It is made up of billions of “smart” devices—from miniscule chips to mammoth machines—that use wireless technology to talk to each other (and to us). Our IoT world is growing at a breathtaking pace, from 2 billion objects in 2006 to a projected 200 billion by 2020. That will be around 26 smart objects for every human being on Earth!  </a:t>
            </a:r>
            <a:r>
              <a:rPr lang="en-US" sz="2170" b="0" i="1" u="none" strike="noStrike" cap="none" baseline="0" dirty="0">
                <a:solidFill>
                  <a:schemeClr val="dk1"/>
                </a:solidFill>
                <a:latin typeface="Calibri"/>
                <a:ea typeface="Calibri"/>
                <a:cs typeface="Calibri"/>
                <a:sym typeface="Calibri"/>
              </a:rPr>
              <a:t> - Intel </a:t>
            </a:r>
          </a:p>
          <a:p>
            <a:pPr marL="228600" marR="0" lvl="0" indent="-228600" algn="l" rtl="0">
              <a:lnSpc>
                <a:spcPct val="70000"/>
              </a:lnSpc>
              <a:spcBef>
                <a:spcPts val="1000"/>
              </a:spcBef>
              <a:buClr>
                <a:schemeClr val="dk1"/>
              </a:buClr>
              <a:buSzPct val="98636"/>
              <a:buFont typeface="Arial"/>
              <a:buChar char="•"/>
            </a:pPr>
            <a:r>
              <a:rPr lang="en-US" sz="2170" b="0" i="0" u="none" strike="noStrike" cap="none" baseline="0" dirty="0">
                <a:solidFill>
                  <a:schemeClr val="dk1"/>
                </a:solidFill>
                <a:latin typeface="Calibri"/>
                <a:ea typeface="Calibri"/>
                <a:cs typeface="Calibri"/>
                <a:sym typeface="Calibri"/>
              </a:rPr>
              <a:t>As far as the reach of the Internet of Things, there are more than 12 billion devices that can currently connect to the Internet, and researchers at IDC estimate that by 2020 there will be 26 times more connected things than people. </a:t>
            </a:r>
            <a:r>
              <a:rPr lang="en-US" sz="2170" b="0" i="1" u="none" strike="noStrike" cap="none" baseline="0" dirty="0">
                <a:solidFill>
                  <a:schemeClr val="dk1"/>
                </a:solidFill>
                <a:latin typeface="Calibri"/>
                <a:ea typeface="Calibri"/>
                <a:cs typeface="Calibri"/>
                <a:sym typeface="Calibri"/>
              </a:rPr>
              <a:t>- International Data Co-operation</a:t>
            </a:r>
          </a:p>
          <a:p>
            <a:pPr marL="228600" marR="0" lvl="0" indent="-228600" algn="l" rtl="0">
              <a:lnSpc>
                <a:spcPct val="70000"/>
              </a:lnSpc>
              <a:spcBef>
                <a:spcPts val="1000"/>
              </a:spcBef>
              <a:buClr>
                <a:schemeClr val="dk1"/>
              </a:buClr>
              <a:buSzPct val="98636"/>
              <a:buFont typeface="Arial"/>
              <a:buChar char="•"/>
            </a:pPr>
            <a:r>
              <a:rPr lang="en-US" sz="2170" b="0" i="0" u="none" strike="noStrike" cap="none" baseline="0" dirty="0">
                <a:solidFill>
                  <a:schemeClr val="dk1"/>
                </a:solidFill>
                <a:latin typeface="Calibri"/>
                <a:ea typeface="Calibri"/>
                <a:cs typeface="Calibri"/>
                <a:sym typeface="Calibri"/>
              </a:rPr>
              <a:t>Connecting these devices on the present internet structure based on IPv4 with 32 bit address just isn’t enough. </a:t>
            </a:r>
          </a:p>
          <a:p>
            <a:pPr marL="228600" marR="0" lvl="0" indent="-228600" algn="l" rtl="0">
              <a:lnSpc>
                <a:spcPct val="70000"/>
              </a:lnSpc>
              <a:spcBef>
                <a:spcPts val="1000"/>
              </a:spcBef>
              <a:buClr>
                <a:schemeClr val="dk1"/>
              </a:buClr>
              <a:buSzPct val="98636"/>
              <a:buFont typeface="Arial"/>
              <a:buChar char="•"/>
            </a:pPr>
            <a:r>
              <a:rPr lang="en-US" sz="2170" b="0" i="0" u="none" strike="noStrike" cap="none" baseline="0" dirty="0">
                <a:solidFill>
                  <a:schemeClr val="dk1"/>
                </a:solidFill>
                <a:latin typeface="Calibri"/>
                <a:ea typeface="Calibri"/>
                <a:cs typeface="Calibri"/>
                <a:sym typeface="Calibri"/>
              </a:rPr>
              <a:t>Solution : IPv6 128 bit address space</a:t>
            </a:r>
          </a:p>
        </p:txBody>
      </p:sp>
    </p:spTree>
  </p:cSld>
  <p:clrMapOvr>
    <a:masterClrMapping/>
  </p:clrMapOvr>
  <p:transition spd="slow">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Shape 99"/>
          <p:cNvSpPr txBox="1">
            <a:spLocks noGrp="1"/>
          </p:cNvSpPr>
          <p:nvPr>
            <p:ph type="title"/>
          </p:nvPr>
        </p:nvSpPr>
        <p:spPr>
          <a:xfrm>
            <a:off x="838200" y="365126"/>
            <a:ext cx="10515599" cy="615375"/>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3959" b="0" i="0" u="none" strike="noStrike" cap="none" baseline="0" dirty="0">
                <a:solidFill>
                  <a:schemeClr val="dk1"/>
                </a:solidFill>
                <a:ea typeface="Calibri"/>
                <a:cs typeface="Calibri"/>
                <a:sym typeface="Calibri"/>
              </a:rPr>
              <a:t>Applications of IoT</a:t>
            </a:r>
          </a:p>
        </p:txBody>
      </p:sp>
      <p:sp>
        <p:nvSpPr>
          <p:cNvPr id="100" name="Shape 100"/>
          <p:cNvSpPr txBox="1">
            <a:spLocks noGrp="1"/>
          </p:cNvSpPr>
          <p:nvPr>
            <p:ph idx="1"/>
          </p:nvPr>
        </p:nvSpPr>
        <p:spPr>
          <a:xfrm>
            <a:off x="324095" y="1110273"/>
            <a:ext cx="5668811" cy="5568627"/>
          </a:xfrm>
          <a:prstGeom prst="rect">
            <a:avLst/>
          </a:prstGeom>
          <a:noFill/>
          <a:ln>
            <a:noFill/>
          </a:ln>
        </p:spPr>
        <p:txBody>
          <a:bodyPr lIns="91425" tIns="45700" rIns="91425" bIns="45700" anchor="t" anchorCtr="0">
            <a:noAutofit/>
          </a:bodyPr>
          <a:lstStyle/>
          <a:p>
            <a:pPr marL="228600" marR="0" lvl="0" indent="-228600" algn="l" rtl="0">
              <a:lnSpc>
                <a:spcPct val="70000"/>
              </a:lnSpc>
              <a:spcBef>
                <a:spcPts val="0"/>
              </a:spcBef>
              <a:buClr>
                <a:schemeClr val="dk1"/>
              </a:buClr>
              <a:buSzPct val="102307"/>
              <a:buFont typeface="Arial"/>
              <a:buChar char="•"/>
            </a:pPr>
            <a:r>
              <a:rPr lang="en-US" sz="1330" b="1" i="0" u="none" strike="noStrike" cap="none" baseline="0" dirty="0">
                <a:solidFill>
                  <a:schemeClr val="dk1"/>
                </a:solidFill>
                <a:latin typeface="Calibri"/>
                <a:ea typeface="Calibri"/>
                <a:cs typeface="Calibri"/>
                <a:sym typeface="Calibri"/>
              </a:rPr>
              <a:t>Smart Cities</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Smart Parking</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Monitoring of parking spaces availability in the city.</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Structural health</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Monitoring of vibrations and material conditions in buildings, bridges and historical monuments.</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Traffic Congestion</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Monitoring of vehicles and pedestrian levels to optimize driving and walking routes</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Waste Management</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Detection of rubbish levels in containers to optimize the trash collection routes.</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Smart Roads</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Intelligent Highways with warning messages and diversions according to climate conditions and unexpected events like accidents or traffic jams.</a:t>
            </a:r>
          </a:p>
          <a:p>
            <a:pPr marL="228600" marR="0" lvl="0" indent="-228600" algn="l" rtl="0">
              <a:lnSpc>
                <a:spcPct val="70000"/>
              </a:lnSpc>
              <a:spcBef>
                <a:spcPts val="1000"/>
              </a:spcBef>
              <a:buClr>
                <a:schemeClr val="dk1"/>
              </a:buClr>
              <a:buSzPct val="102307"/>
              <a:buFont typeface="Arial"/>
              <a:buChar char="•"/>
            </a:pPr>
            <a:r>
              <a:rPr lang="en-US" sz="1330" b="1" i="0" u="none" strike="noStrike" cap="none" baseline="0" dirty="0">
                <a:solidFill>
                  <a:schemeClr val="dk1"/>
                </a:solidFill>
                <a:latin typeface="Calibri"/>
                <a:ea typeface="Calibri"/>
                <a:cs typeface="Calibri"/>
                <a:sym typeface="Calibri"/>
              </a:rPr>
              <a:t>Smart Environment</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Forest Fire Detection</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Monitoring of combustion gases and preemptive fire conditions to define alert zones.</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Air Pollution</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Control of CO2 emissions of factories, pollution emitted by cars and toxic gases generated in farms.</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Snow Level Monitoring</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Snow level measurement to know in real time the quality of ski tracks and allow security corps avalanche prevention</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Earthquake Early Detection</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Distributed control in specific places of tremors</a:t>
            </a:r>
          </a:p>
          <a:p>
            <a:pPr marL="228600" marR="0" lvl="0" indent="-228600" algn="l" rtl="0">
              <a:lnSpc>
                <a:spcPct val="70000"/>
              </a:lnSpc>
              <a:spcBef>
                <a:spcPts val="1000"/>
              </a:spcBef>
              <a:buClr>
                <a:schemeClr val="dk1"/>
              </a:buClr>
              <a:buSzPct val="102307"/>
              <a:buFont typeface="Arial"/>
              <a:buChar char="•"/>
            </a:pPr>
            <a:r>
              <a:rPr lang="en-US" sz="1330" b="1" i="0" u="none" strike="noStrike" cap="none" baseline="0" dirty="0">
                <a:solidFill>
                  <a:schemeClr val="dk1"/>
                </a:solidFill>
                <a:latin typeface="Calibri"/>
                <a:ea typeface="Calibri"/>
                <a:cs typeface="Calibri"/>
                <a:sym typeface="Calibri"/>
              </a:rPr>
              <a:t>Smart Metering</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Smart Grid</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Energy consumption monitoring and management.</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Tank level</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Monitoring of water, oil and gas levels in storage tanks and cisterns.</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Photovoltaic Installations</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Monitoring and optimization of performance in solar energy plants.</a:t>
            </a:r>
          </a:p>
          <a:p>
            <a:pPr marL="685800" marR="0" lvl="1" indent="-228600" algn="l" rtl="0">
              <a:lnSpc>
                <a:spcPct val="70000"/>
              </a:lnSpc>
              <a:spcBef>
                <a:spcPts val="500"/>
              </a:spcBef>
              <a:buClr>
                <a:schemeClr val="dk1"/>
              </a:buClr>
              <a:buSzPct val="103636"/>
              <a:buFont typeface="Arial"/>
              <a:buChar char="•"/>
            </a:pPr>
            <a:r>
              <a:rPr lang="en-US" sz="1140" b="1" i="0" u="none" strike="noStrike" cap="none" baseline="0" dirty="0">
                <a:solidFill>
                  <a:schemeClr val="dk1"/>
                </a:solidFill>
                <a:latin typeface="Calibri"/>
                <a:ea typeface="Calibri"/>
                <a:cs typeface="Calibri"/>
                <a:sym typeface="Calibri"/>
              </a:rPr>
              <a:t>Water Flow</a:t>
            </a:r>
            <a:r>
              <a:rPr lang="en-US" sz="1140" b="0" i="0" u="none" strike="noStrike" cap="none" baseline="0" dirty="0">
                <a:solidFill>
                  <a:schemeClr val="dk1"/>
                </a:solidFill>
                <a:latin typeface="Calibri"/>
                <a:ea typeface="Calibri"/>
                <a:cs typeface="Calibri"/>
                <a:sym typeface="Calibri"/>
              </a:rPr>
              <a:t/>
            </a:r>
            <a:br>
              <a:rPr lang="en-US" sz="1140" b="0" i="0" u="none" strike="noStrike" cap="none" baseline="0" dirty="0">
                <a:solidFill>
                  <a:schemeClr val="dk1"/>
                </a:solidFill>
                <a:latin typeface="Calibri"/>
                <a:ea typeface="Calibri"/>
                <a:cs typeface="Calibri"/>
                <a:sym typeface="Calibri"/>
              </a:rPr>
            </a:br>
            <a:r>
              <a:rPr lang="en-US" sz="1140" b="0" i="0" u="none" strike="noStrike" cap="none" baseline="0" dirty="0">
                <a:solidFill>
                  <a:schemeClr val="dk1"/>
                </a:solidFill>
                <a:latin typeface="Calibri"/>
                <a:ea typeface="Calibri"/>
                <a:cs typeface="Calibri"/>
                <a:sym typeface="Calibri"/>
              </a:rPr>
              <a:t>Measurement of water pressure in water transportation systems</a:t>
            </a:r>
          </a:p>
          <a:p>
            <a:pPr marL="685800" marR="0" lvl="1" indent="-156209" algn="l" rtl="0">
              <a:lnSpc>
                <a:spcPct val="70000"/>
              </a:lnSpc>
              <a:spcBef>
                <a:spcPts val="500"/>
              </a:spcBef>
              <a:buClr>
                <a:schemeClr val="dk1"/>
              </a:buClr>
              <a:buFont typeface="Arial"/>
              <a:buNone/>
            </a:pPr>
            <a:endParaRPr sz="1140" b="1" i="0" u="none" strike="noStrike" cap="none" baseline="0" dirty="0">
              <a:solidFill>
                <a:schemeClr val="dk1"/>
              </a:solidFill>
              <a:latin typeface="Calibri"/>
              <a:ea typeface="Calibri"/>
              <a:cs typeface="Calibri"/>
              <a:sym typeface="Calibri"/>
            </a:endParaRPr>
          </a:p>
        </p:txBody>
      </p:sp>
      <p:sp>
        <p:nvSpPr>
          <p:cNvPr id="2" name="Rectangle 1"/>
          <p:cNvSpPr/>
          <p:nvPr/>
        </p:nvSpPr>
        <p:spPr>
          <a:xfrm>
            <a:off x="5992906" y="1110273"/>
            <a:ext cx="6096000" cy="3522183"/>
          </a:xfrm>
          <a:prstGeom prst="rect">
            <a:avLst/>
          </a:prstGeom>
        </p:spPr>
        <p:txBody>
          <a:bodyPr>
            <a:spAutoFit/>
          </a:bodyPr>
          <a:lstStyle/>
          <a:p>
            <a:pPr marL="228600" lvl="0" indent="-228600">
              <a:lnSpc>
                <a:spcPct val="70000"/>
              </a:lnSpc>
              <a:spcBef>
                <a:spcPts val="1000"/>
              </a:spcBef>
              <a:buClr>
                <a:schemeClr val="dk1"/>
              </a:buClr>
              <a:buSzPct val="102307"/>
              <a:buFont typeface="Arial"/>
              <a:buChar char="•"/>
            </a:pPr>
            <a:r>
              <a:rPr lang="en-US" sz="1330" b="1" dirty="0">
                <a:solidFill>
                  <a:schemeClr val="dk1"/>
                </a:solidFill>
                <a:latin typeface="Calibri"/>
                <a:ea typeface="Calibri"/>
                <a:cs typeface="Calibri"/>
                <a:sym typeface="Calibri"/>
              </a:rPr>
              <a:t>Security &amp; Emergencies</a:t>
            </a:r>
          </a:p>
          <a:p>
            <a:pPr marL="685800" lvl="1" indent="-228600">
              <a:lnSpc>
                <a:spcPct val="70000"/>
              </a:lnSpc>
              <a:spcBef>
                <a:spcPts val="500"/>
              </a:spcBef>
              <a:buClr>
                <a:schemeClr val="dk1"/>
              </a:buClr>
              <a:buSzPct val="103636"/>
              <a:buFont typeface="Arial"/>
              <a:buChar char="•"/>
            </a:pPr>
            <a:r>
              <a:rPr lang="en-US" sz="1140" b="1" dirty="0">
                <a:solidFill>
                  <a:schemeClr val="dk1"/>
                </a:solidFill>
                <a:latin typeface="Calibri"/>
                <a:ea typeface="Calibri"/>
                <a:cs typeface="Calibri"/>
                <a:sym typeface="Calibri"/>
              </a:rPr>
              <a:t>Perimeter Access Control</a:t>
            </a:r>
            <a:r>
              <a:rPr lang="en-US" sz="1140" dirty="0">
                <a:solidFill>
                  <a:schemeClr val="dk1"/>
                </a:solidFill>
                <a:latin typeface="Calibri"/>
                <a:ea typeface="Calibri"/>
                <a:cs typeface="Calibri"/>
                <a:sym typeface="Calibri"/>
              </a:rPr>
              <a:t/>
            </a:r>
            <a:br>
              <a:rPr lang="en-US" sz="1140" dirty="0">
                <a:solidFill>
                  <a:schemeClr val="dk1"/>
                </a:solidFill>
                <a:latin typeface="Calibri"/>
                <a:ea typeface="Calibri"/>
                <a:cs typeface="Calibri"/>
                <a:sym typeface="Calibri"/>
              </a:rPr>
            </a:br>
            <a:r>
              <a:rPr lang="en-US" sz="1140" dirty="0">
                <a:solidFill>
                  <a:schemeClr val="dk1"/>
                </a:solidFill>
                <a:latin typeface="Calibri"/>
                <a:ea typeface="Calibri"/>
                <a:cs typeface="Calibri"/>
                <a:sym typeface="Calibri"/>
              </a:rPr>
              <a:t>Access control to restricted areas and detection of people in non-authorized areas.</a:t>
            </a:r>
          </a:p>
          <a:p>
            <a:pPr marL="685800" lvl="1" indent="-228600">
              <a:lnSpc>
                <a:spcPct val="70000"/>
              </a:lnSpc>
              <a:spcBef>
                <a:spcPts val="500"/>
              </a:spcBef>
              <a:buClr>
                <a:schemeClr val="dk1"/>
              </a:buClr>
              <a:buSzPct val="103636"/>
              <a:buFont typeface="Arial"/>
              <a:buChar char="•"/>
            </a:pPr>
            <a:r>
              <a:rPr lang="en-US" sz="1140" b="1" dirty="0">
                <a:solidFill>
                  <a:schemeClr val="dk1"/>
                </a:solidFill>
                <a:latin typeface="Calibri"/>
                <a:ea typeface="Calibri"/>
                <a:cs typeface="Calibri"/>
                <a:sym typeface="Calibri"/>
              </a:rPr>
              <a:t>Liquid Presence</a:t>
            </a:r>
            <a:r>
              <a:rPr lang="en-US" sz="1140" dirty="0">
                <a:solidFill>
                  <a:schemeClr val="dk1"/>
                </a:solidFill>
                <a:latin typeface="Calibri"/>
                <a:ea typeface="Calibri"/>
                <a:cs typeface="Calibri"/>
                <a:sym typeface="Calibri"/>
              </a:rPr>
              <a:t/>
            </a:r>
            <a:br>
              <a:rPr lang="en-US" sz="1140" dirty="0">
                <a:solidFill>
                  <a:schemeClr val="dk1"/>
                </a:solidFill>
                <a:latin typeface="Calibri"/>
                <a:ea typeface="Calibri"/>
                <a:cs typeface="Calibri"/>
                <a:sym typeface="Calibri"/>
              </a:rPr>
            </a:br>
            <a:r>
              <a:rPr lang="en-US" sz="1140" dirty="0">
                <a:solidFill>
                  <a:schemeClr val="dk1"/>
                </a:solidFill>
                <a:latin typeface="Calibri"/>
                <a:ea typeface="Calibri"/>
                <a:cs typeface="Calibri"/>
                <a:sym typeface="Calibri"/>
              </a:rPr>
              <a:t>Liquid detection in data centers, warehouses and sensitive building grounds to prevent break downs and corrosion.</a:t>
            </a:r>
          </a:p>
          <a:p>
            <a:pPr marL="228600" lvl="0" indent="-228600">
              <a:lnSpc>
                <a:spcPct val="70000"/>
              </a:lnSpc>
              <a:spcBef>
                <a:spcPts val="1000"/>
              </a:spcBef>
              <a:buClr>
                <a:schemeClr val="dk1"/>
              </a:buClr>
              <a:buSzPct val="102307"/>
              <a:buFont typeface="Arial"/>
              <a:buChar char="•"/>
            </a:pPr>
            <a:r>
              <a:rPr lang="en-US" sz="1330" b="1" dirty="0">
                <a:solidFill>
                  <a:schemeClr val="dk1"/>
                </a:solidFill>
                <a:latin typeface="Calibri"/>
                <a:ea typeface="Calibri"/>
                <a:cs typeface="Calibri"/>
                <a:sym typeface="Calibri"/>
              </a:rPr>
              <a:t>Retail</a:t>
            </a:r>
          </a:p>
          <a:p>
            <a:pPr marL="685800" lvl="1" indent="-228600">
              <a:lnSpc>
                <a:spcPct val="70000"/>
              </a:lnSpc>
              <a:spcBef>
                <a:spcPts val="500"/>
              </a:spcBef>
              <a:buClr>
                <a:schemeClr val="dk1"/>
              </a:buClr>
              <a:buSzPct val="103636"/>
              <a:buFont typeface="Arial"/>
              <a:buChar char="•"/>
            </a:pPr>
            <a:r>
              <a:rPr lang="en-US" sz="1140" b="1" dirty="0">
                <a:solidFill>
                  <a:schemeClr val="dk1"/>
                </a:solidFill>
                <a:latin typeface="Calibri"/>
                <a:ea typeface="Calibri"/>
                <a:cs typeface="Calibri"/>
                <a:sym typeface="Calibri"/>
              </a:rPr>
              <a:t>Supply Chain Control</a:t>
            </a:r>
            <a:r>
              <a:rPr lang="en-US" sz="1140" dirty="0">
                <a:solidFill>
                  <a:schemeClr val="dk1"/>
                </a:solidFill>
                <a:latin typeface="Calibri"/>
                <a:ea typeface="Calibri"/>
                <a:cs typeface="Calibri"/>
                <a:sym typeface="Calibri"/>
              </a:rPr>
              <a:t/>
            </a:r>
            <a:br>
              <a:rPr lang="en-US" sz="1140" dirty="0">
                <a:solidFill>
                  <a:schemeClr val="dk1"/>
                </a:solidFill>
                <a:latin typeface="Calibri"/>
                <a:ea typeface="Calibri"/>
                <a:cs typeface="Calibri"/>
                <a:sym typeface="Calibri"/>
              </a:rPr>
            </a:br>
            <a:r>
              <a:rPr lang="en-US" sz="1140" dirty="0">
                <a:solidFill>
                  <a:schemeClr val="dk1"/>
                </a:solidFill>
                <a:latin typeface="Calibri"/>
                <a:ea typeface="Calibri"/>
                <a:cs typeface="Calibri"/>
                <a:sym typeface="Calibri"/>
              </a:rPr>
              <a:t>Monitoring of storage conditions along the supply chain and product tracking for traceability purposes.</a:t>
            </a:r>
          </a:p>
          <a:p>
            <a:pPr marL="685800" lvl="1" indent="-228600">
              <a:lnSpc>
                <a:spcPct val="70000"/>
              </a:lnSpc>
              <a:spcBef>
                <a:spcPts val="500"/>
              </a:spcBef>
              <a:buClr>
                <a:schemeClr val="dk1"/>
              </a:buClr>
              <a:buSzPct val="103636"/>
              <a:buFont typeface="Arial"/>
              <a:buChar char="•"/>
            </a:pPr>
            <a:r>
              <a:rPr lang="en-US" sz="1140" b="1" dirty="0">
                <a:solidFill>
                  <a:schemeClr val="dk1"/>
                </a:solidFill>
                <a:latin typeface="Calibri"/>
                <a:ea typeface="Calibri"/>
                <a:cs typeface="Calibri"/>
                <a:sym typeface="Calibri"/>
              </a:rPr>
              <a:t>NFC Payment</a:t>
            </a:r>
            <a:r>
              <a:rPr lang="en-US" sz="1140" dirty="0">
                <a:solidFill>
                  <a:schemeClr val="dk1"/>
                </a:solidFill>
                <a:latin typeface="Calibri"/>
                <a:ea typeface="Calibri"/>
                <a:cs typeface="Calibri"/>
                <a:sym typeface="Calibri"/>
              </a:rPr>
              <a:t/>
            </a:r>
            <a:br>
              <a:rPr lang="en-US" sz="1140" dirty="0">
                <a:solidFill>
                  <a:schemeClr val="dk1"/>
                </a:solidFill>
                <a:latin typeface="Calibri"/>
                <a:ea typeface="Calibri"/>
                <a:cs typeface="Calibri"/>
                <a:sym typeface="Calibri"/>
              </a:rPr>
            </a:br>
            <a:r>
              <a:rPr lang="en-US" sz="1140" dirty="0">
                <a:solidFill>
                  <a:schemeClr val="dk1"/>
                </a:solidFill>
                <a:latin typeface="Calibri"/>
                <a:ea typeface="Calibri"/>
                <a:cs typeface="Calibri"/>
                <a:sym typeface="Calibri"/>
              </a:rPr>
              <a:t>Payment processing based in location or activity duration for public transport, gyms, theme parks, etc.</a:t>
            </a:r>
          </a:p>
          <a:p>
            <a:pPr marL="228600" lvl="0" indent="-228600">
              <a:lnSpc>
                <a:spcPct val="70000"/>
              </a:lnSpc>
              <a:spcBef>
                <a:spcPts val="1000"/>
              </a:spcBef>
              <a:buClr>
                <a:schemeClr val="dk1"/>
              </a:buClr>
              <a:buSzPct val="102307"/>
              <a:buFont typeface="Arial"/>
              <a:buChar char="•"/>
            </a:pPr>
            <a:r>
              <a:rPr lang="en-US" sz="1330" b="1" dirty="0">
                <a:solidFill>
                  <a:schemeClr val="dk1"/>
                </a:solidFill>
                <a:latin typeface="Calibri"/>
                <a:ea typeface="Calibri"/>
                <a:cs typeface="Calibri"/>
                <a:sym typeface="Calibri"/>
              </a:rPr>
              <a:t>Logistics</a:t>
            </a:r>
          </a:p>
          <a:p>
            <a:pPr marL="685800" lvl="1" indent="-228600">
              <a:lnSpc>
                <a:spcPct val="70000"/>
              </a:lnSpc>
              <a:spcBef>
                <a:spcPts val="500"/>
              </a:spcBef>
              <a:buClr>
                <a:schemeClr val="dk1"/>
              </a:buClr>
              <a:buSzPct val="103636"/>
              <a:buFont typeface="Arial"/>
              <a:buChar char="•"/>
            </a:pPr>
            <a:r>
              <a:rPr lang="en-US" sz="1140" b="1" dirty="0">
                <a:solidFill>
                  <a:schemeClr val="dk1"/>
                </a:solidFill>
                <a:latin typeface="Calibri"/>
                <a:ea typeface="Calibri"/>
                <a:cs typeface="Calibri"/>
                <a:sym typeface="Calibri"/>
              </a:rPr>
              <a:t>Quality of Shipment Conditions</a:t>
            </a:r>
            <a:r>
              <a:rPr lang="en-US" sz="1140" dirty="0">
                <a:solidFill>
                  <a:schemeClr val="dk1"/>
                </a:solidFill>
                <a:latin typeface="Calibri"/>
                <a:ea typeface="Calibri"/>
                <a:cs typeface="Calibri"/>
                <a:sym typeface="Calibri"/>
              </a:rPr>
              <a:t/>
            </a:r>
            <a:br>
              <a:rPr lang="en-US" sz="1140" dirty="0">
                <a:solidFill>
                  <a:schemeClr val="dk1"/>
                </a:solidFill>
                <a:latin typeface="Calibri"/>
                <a:ea typeface="Calibri"/>
                <a:cs typeface="Calibri"/>
                <a:sym typeface="Calibri"/>
              </a:rPr>
            </a:br>
            <a:r>
              <a:rPr lang="en-US" sz="1140" dirty="0">
                <a:solidFill>
                  <a:schemeClr val="dk1"/>
                </a:solidFill>
                <a:latin typeface="Calibri"/>
                <a:ea typeface="Calibri"/>
                <a:cs typeface="Calibri"/>
                <a:sym typeface="Calibri"/>
              </a:rPr>
              <a:t>Monitoring of vibrations, strokes, container openings or cold chain maintenance for insurance purposes.</a:t>
            </a:r>
          </a:p>
          <a:p>
            <a:pPr marL="685800" lvl="1" indent="-228600">
              <a:lnSpc>
                <a:spcPct val="70000"/>
              </a:lnSpc>
              <a:spcBef>
                <a:spcPts val="500"/>
              </a:spcBef>
              <a:buClr>
                <a:schemeClr val="dk1"/>
              </a:buClr>
              <a:buSzPct val="103636"/>
              <a:buFont typeface="Arial"/>
              <a:buChar char="•"/>
            </a:pPr>
            <a:r>
              <a:rPr lang="en-US" sz="1140" b="1" dirty="0">
                <a:solidFill>
                  <a:schemeClr val="dk1"/>
                </a:solidFill>
                <a:latin typeface="Calibri"/>
                <a:ea typeface="Calibri"/>
                <a:cs typeface="Calibri"/>
                <a:sym typeface="Calibri"/>
              </a:rPr>
              <a:t>Fleet Tracking</a:t>
            </a:r>
            <a:r>
              <a:rPr lang="en-US" sz="1140" dirty="0">
                <a:solidFill>
                  <a:schemeClr val="dk1"/>
                </a:solidFill>
                <a:latin typeface="Calibri"/>
                <a:ea typeface="Calibri"/>
                <a:cs typeface="Calibri"/>
                <a:sym typeface="Calibri"/>
              </a:rPr>
              <a:t/>
            </a:r>
            <a:br>
              <a:rPr lang="en-US" sz="1140" dirty="0">
                <a:solidFill>
                  <a:schemeClr val="dk1"/>
                </a:solidFill>
                <a:latin typeface="Calibri"/>
                <a:ea typeface="Calibri"/>
                <a:cs typeface="Calibri"/>
                <a:sym typeface="Calibri"/>
              </a:rPr>
            </a:br>
            <a:r>
              <a:rPr lang="en-US" sz="1140" dirty="0">
                <a:solidFill>
                  <a:schemeClr val="dk1"/>
                </a:solidFill>
                <a:latin typeface="Calibri"/>
                <a:ea typeface="Calibri"/>
                <a:cs typeface="Calibri"/>
                <a:sym typeface="Calibri"/>
              </a:rPr>
              <a:t>Control of routes followed for delicate goods like medical drugs, jewels or dangerous merchandises.</a:t>
            </a:r>
          </a:p>
          <a:p>
            <a:pPr marL="228600" lvl="0" indent="-228600">
              <a:lnSpc>
                <a:spcPct val="70000"/>
              </a:lnSpc>
              <a:spcBef>
                <a:spcPts val="1000"/>
              </a:spcBef>
              <a:buClr>
                <a:schemeClr val="dk1"/>
              </a:buClr>
              <a:buSzPct val="102307"/>
              <a:buFont typeface="Arial"/>
              <a:buChar char="•"/>
            </a:pPr>
            <a:r>
              <a:rPr lang="en-US" sz="1330" b="1" dirty="0">
                <a:solidFill>
                  <a:schemeClr val="dk1"/>
                </a:solidFill>
                <a:latin typeface="Calibri"/>
                <a:ea typeface="Calibri"/>
                <a:cs typeface="Calibri"/>
                <a:sym typeface="Calibri"/>
              </a:rPr>
              <a:t>Industrial Control ETC…</a:t>
            </a:r>
            <a:endParaRPr lang="en-US" sz="1330" b="1" dirty="0">
              <a:solidFill>
                <a:schemeClr val="dk1"/>
              </a:solidFill>
              <a:latin typeface="Calibri"/>
              <a:ea typeface="Calibri"/>
              <a:cs typeface="Calibri"/>
              <a:sym typeface="Calibri"/>
            </a:endParaRPr>
          </a:p>
        </p:txBody>
      </p:sp>
    </p:spTree>
  </p:cSld>
  <p:clrMapOvr>
    <a:masterClrMapping/>
  </p:clrMapOvr>
  <p:transition spd="slow">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Shape 105"/>
          <p:cNvSpPr txBox="1">
            <a:spLocks noGrp="1"/>
          </p:cNvSpPr>
          <p:nvPr>
            <p:ph type="title"/>
          </p:nvPr>
        </p:nvSpPr>
        <p:spPr>
          <a:xfrm>
            <a:off x="866440" y="142198"/>
            <a:ext cx="10515600" cy="1325563"/>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400" b="0" i="0" u="none" strike="noStrike" cap="none" baseline="0" dirty="0" smtClean="0">
                <a:solidFill>
                  <a:schemeClr val="dk1"/>
                </a:solidFill>
                <a:ea typeface="Calibri"/>
                <a:cs typeface="Calibri"/>
                <a:sym typeface="Calibri"/>
              </a:rPr>
              <a:t>Connection Hierarchy</a:t>
            </a:r>
            <a:endParaRPr lang="en-US" sz="4400" b="0" i="0" u="none" strike="noStrike" cap="none" baseline="0" dirty="0">
              <a:solidFill>
                <a:schemeClr val="dk1"/>
              </a:solidFill>
              <a:ea typeface="Calibri"/>
              <a:cs typeface="Calibri"/>
              <a:sym typeface="Calibri"/>
            </a:endParaRPr>
          </a:p>
        </p:txBody>
      </p:sp>
      <p:grpSp>
        <p:nvGrpSpPr>
          <p:cNvPr id="30" name="Group 29"/>
          <p:cNvGrpSpPr/>
          <p:nvPr/>
        </p:nvGrpSpPr>
        <p:grpSpPr>
          <a:xfrm>
            <a:off x="2707763" y="1709808"/>
            <a:ext cx="6832954" cy="3490569"/>
            <a:chOff x="2407368" y="940752"/>
            <a:chExt cx="6832954" cy="3490569"/>
          </a:xfrm>
        </p:grpSpPr>
        <p:grpSp>
          <p:nvGrpSpPr>
            <p:cNvPr id="31" name="Group 30"/>
            <p:cNvGrpSpPr/>
            <p:nvPr/>
          </p:nvGrpSpPr>
          <p:grpSpPr>
            <a:xfrm>
              <a:off x="2407368" y="940752"/>
              <a:ext cx="6832954" cy="3490569"/>
              <a:chOff x="3352800" y="1160585"/>
              <a:chExt cx="4865077" cy="2485292"/>
            </a:xfrm>
          </p:grpSpPr>
          <p:sp>
            <p:nvSpPr>
              <p:cNvPr id="38" name="Extract 37"/>
              <p:cNvSpPr/>
              <p:nvPr/>
            </p:nvSpPr>
            <p:spPr>
              <a:xfrm>
                <a:off x="3352800" y="1160585"/>
                <a:ext cx="4865077" cy="2485292"/>
              </a:xfrm>
              <a:prstGeom prst="flowChartExtra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39" name="Straight Connector 38"/>
              <p:cNvCxnSpPr/>
              <p:nvPr/>
            </p:nvCxnSpPr>
            <p:spPr>
              <a:xfrm flipV="1">
                <a:off x="4044462" y="2930769"/>
                <a:ext cx="3470030" cy="11723"/>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p:cNvCxnSpPr/>
              <p:nvPr/>
            </p:nvCxnSpPr>
            <p:spPr>
              <a:xfrm flipV="1">
                <a:off x="4700954" y="2250832"/>
                <a:ext cx="2157046" cy="11722"/>
              </a:xfrm>
              <a:prstGeom prst="line">
                <a:avLst/>
              </a:prstGeom>
            </p:spPr>
            <p:style>
              <a:lnRef idx="1">
                <a:schemeClr val="dk1"/>
              </a:lnRef>
              <a:fillRef idx="0">
                <a:schemeClr val="dk1"/>
              </a:fillRef>
              <a:effectRef idx="0">
                <a:schemeClr val="dk1"/>
              </a:effectRef>
              <a:fontRef idx="minor">
                <a:schemeClr val="tx1"/>
              </a:fontRef>
            </p:style>
          </p:cxnSp>
        </p:grpSp>
        <p:sp>
          <p:nvSpPr>
            <p:cNvPr id="32" name="TextBox 31"/>
            <p:cNvSpPr txBox="1"/>
            <p:nvPr/>
          </p:nvSpPr>
          <p:spPr>
            <a:xfrm>
              <a:off x="5142958" y="3495936"/>
              <a:ext cx="1310680" cy="369332"/>
            </a:xfrm>
            <a:prstGeom prst="rect">
              <a:avLst/>
            </a:prstGeom>
            <a:noFill/>
          </p:spPr>
          <p:txBody>
            <a:bodyPr wrap="none" rtlCol="0">
              <a:spAutoFit/>
            </a:bodyPr>
            <a:lstStyle/>
            <a:p>
              <a:r>
                <a:rPr lang="en-US" dirty="0" smtClean="0"/>
                <a:t>End Devices</a:t>
              </a:r>
              <a:endParaRPr lang="en-US" dirty="0"/>
            </a:p>
          </p:txBody>
        </p:sp>
        <p:sp>
          <p:nvSpPr>
            <p:cNvPr id="33" name="TextBox 32"/>
            <p:cNvSpPr txBox="1"/>
            <p:nvPr/>
          </p:nvSpPr>
          <p:spPr>
            <a:xfrm>
              <a:off x="5082310" y="2501370"/>
              <a:ext cx="1512658" cy="369332"/>
            </a:xfrm>
            <a:prstGeom prst="rect">
              <a:avLst/>
            </a:prstGeom>
            <a:noFill/>
          </p:spPr>
          <p:txBody>
            <a:bodyPr wrap="none" rtlCol="0">
              <a:spAutoFit/>
            </a:bodyPr>
            <a:lstStyle/>
            <a:p>
              <a:r>
                <a:rPr lang="en-US" dirty="0" smtClean="0"/>
                <a:t>Smart Devices</a:t>
              </a:r>
              <a:endParaRPr lang="en-US" dirty="0"/>
            </a:p>
          </p:txBody>
        </p:sp>
        <p:sp>
          <p:nvSpPr>
            <p:cNvPr id="34" name="TextBox 33"/>
            <p:cNvSpPr txBox="1"/>
            <p:nvPr/>
          </p:nvSpPr>
          <p:spPr>
            <a:xfrm>
              <a:off x="5104206" y="1654040"/>
              <a:ext cx="1466171" cy="369332"/>
            </a:xfrm>
            <a:prstGeom prst="rect">
              <a:avLst/>
            </a:prstGeom>
            <a:noFill/>
          </p:spPr>
          <p:txBody>
            <a:bodyPr wrap="none" rtlCol="0">
              <a:spAutoFit/>
            </a:bodyPr>
            <a:lstStyle/>
            <a:p>
              <a:r>
                <a:rPr lang="en-US" dirty="0" smtClean="0"/>
                <a:t>Device Server</a:t>
              </a:r>
              <a:endParaRPr lang="en-US" dirty="0"/>
            </a:p>
          </p:txBody>
        </p:sp>
        <p:sp>
          <p:nvSpPr>
            <p:cNvPr id="35" name="TextBox 34"/>
            <p:cNvSpPr txBox="1"/>
            <p:nvPr/>
          </p:nvSpPr>
          <p:spPr>
            <a:xfrm>
              <a:off x="3477332" y="3828613"/>
              <a:ext cx="4746812" cy="430887"/>
            </a:xfrm>
            <a:prstGeom prst="rect">
              <a:avLst/>
            </a:prstGeom>
            <a:noFill/>
          </p:spPr>
          <p:txBody>
            <a:bodyPr wrap="square" rtlCol="0">
              <a:spAutoFit/>
            </a:bodyPr>
            <a:lstStyle/>
            <a:p>
              <a:r>
                <a:rPr lang="en-US" sz="1100" dirty="0" smtClean="0"/>
                <a:t>A typical end device would be a 8-bit microcontroller with GPIO Pins that can read data from a sensor or control an actuator.</a:t>
              </a:r>
              <a:endParaRPr lang="en-US" sz="1100" dirty="0"/>
            </a:p>
          </p:txBody>
        </p:sp>
        <p:sp>
          <p:nvSpPr>
            <p:cNvPr id="36" name="TextBox 35"/>
            <p:cNvSpPr txBox="1"/>
            <p:nvPr/>
          </p:nvSpPr>
          <p:spPr>
            <a:xfrm>
              <a:off x="4088686" y="2783480"/>
              <a:ext cx="3631679" cy="430887"/>
            </a:xfrm>
            <a:prstGeom prst="rect">
              <a:avLst/>
            </a:prstGeom>
            <a:noFill/>
          </p:spPr>
          <p:txBody>
            <a:bodyPr wrap="square" rtlCol="0">
              <a:spAutoFit/>
            </a:bodyPr>
            <a:lstStyle/>
            <a:p>
              <a:r>
                <a:rPr lang="en-US" sz="1100" dirty="0" smtClean="0"/>
                <a:t>A Smart Device host software stacks that handle multiple end devices. This is relatively a smarter device like a </a:t>
              </a:r>
              <a:r>
                <a:rPr lang="en-US" sz="1100" dirty="0" err="1" smtClean="0"/>
                <a:t>SoC.</a:t>
              </a:r>
              <a:endParaRPr lang="en-US" sz="1100" dirty="0"/>
            </a:p>
          </p:txBody>
        </p:sp>
        <p:sp>
          <p:nvSpPr>
            <p:cNvPr id="37" name="TextBox 36"/>
            <p:cNvSpPr txBox="1"/>
            <p:nvPr/>
          </p:nvSpPr>
          <p:spPr>
            <a:xfrm>
              <a:off x="5407423" y="1997524"/>
              <a:ext cx="3631679" cy="261610"/>
            </a:xfrm>
            <a:prstGeom prst="rect">
              <a:avLst/>
            </a:prstGeom>
            <a:noFill/>
          </p:spPr>
          <p:txBody>
            <a:bodyPr wrap="square" rtlCol="0">
              <a:spAutoFit/>
            </a:bodyPr>
            <a:lstStyle/>
            <a:p>
              <a:r>
                <a:rPr lang="en-US" sz="1100" smtClean="0"/>
                <a:t>The Cloud.</a:t>
              </a:r>
              <a:endParaRPr lang="en-US" sz="1100" dirty="0"/>
            </a:p>
          </p:txBody>
        </p:sp>
      </p:grpSp>
    </p:spTree>
  </p:cSld>
  <p:clrMapOvr>
    <a:masterClrMapping/>
  </p:clrMapOvr>
  <p:transition spd="slow">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Shape 137"/>
          <p:cNvSpPr txBox="1">
            <a:spLocks noGrp="1"/>
          </p:cNvSpPr>
          <p:nvPr>
            <p:ph type="title"/>
          </p:nvPr>
        </p:nvSpPr>
        <p:spPr>
          <a:xfrm>
            <a:off x="838200" y="0"/>
            <a:ext cx="10515599" cy="1325562"/>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400" b="0" i="0" u="none" strike="noStrike" cap="none" baseline="0" dirty="0">
                <a:solidFill>
                  <a:schemeClr val="dk1"/>
                </a:solidFill>
                <a:ea typeface="Calibri"/>
                <a:cs typeface="Calibri"/>
                <a:sym typeface="Calibri"/>
              </a:rPr>
              <a:t>Connection Profiles</a:t>
            </a:r>
          </a:p>
        </p:txBody>
      </p:sp>
      <p:grpSp>
        <p:nvGrpSpPr>
          <p:cNvPr id="138" name="Shape 138"/>
          <p:cNvGrpSpPr/>
          <p:nvPr/>
        </p:nvGrpSpPr>
        <p:grpSpPr>
          <a:xfrm>
            <a:off x="1290736" y="1325562"/>
            <a:ext cx="9348994" cy="4399376"/>
            <a:chOff x="338344" y="1325562"/>
            <a:chExt cx="10683762" cy="4860072"/>
          </a:xfrm>
        </p:grpSpPr>
        <p:sp>
          <p:nvSpPr>
            <p:cNvPr id="139" name="Shape 139"/>
            <p:cNvSpPr/>
            <p:nvPr/>
          </p:nvSpPr>
          <p:spPr>
            <a:xfrm>
              <a:off x="1210236" y="1753022"/>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Thing</a:t>
              </a:r>
            </a:p>
          </p:txBody>
        </p:sp>
        <p:sp>
          <p:nvSpPr>
            <p:cNvPr id="140" name="Shape 140"/>
            <p:cNvSpPr/>
            <p:nvPr/>
          </p:nvSpPr>
          <p:spPr>
            <a:xfrm>
              <a:off x="5147982" y="1753022"/>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Gateway</a:t>
              </a:r>
            </a:p>
          </p:txBody>
        </p:sp>
        <p:sp>
          <p:nvSpPr>
            <p:cNvPr id="141" name="Shape 141"/>
            <p:cNvSpPr/>
            <p:nvPr/>
          </p:nvSpPr>
          <p:spPr>
            <a:xfrm>
              <a:off x="9085728" y="1753022"/>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Cloud</a:t>
              </a:r>
            </a:p>
          </p:txBody>
        </p:sp>
        <p:sp>
          <p:nvSpPr>
            <p:cNvPr id="142" name="Shape 142"/>
            <p:cNvSpPr txBox="1"/>
            <p:nvPr/>
          </p:nvSpPr>
          <p:spPr>
            <a:xfrm>
              <a:off x="338344" y="1325562"/>
              <a:ext cx="1958934" cy="369332"/>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0" i="0" u="none" strike="noStrike" cap="none" baseline="0" dirty="0">
                  <a:solidFill>
                    <a:srgbClr val="FF0000"/>
                  </a:solidFill>
                  <a:latin typeface="Calibri"/>
                  <a:ea typeface="Calibri"/>
                  <a:cs typeface="Calibri"/>
                  <a:sym typeface="Calibri"/>
                </a:rPr>
                <a:t>Critical Connection</a:t>
              </a:r>
            </a:p>
          </p:txBody>
        </p:sp>
        <p:cxnSp>
          <p:nvCxnSpPr>
            <p:cNvPr id="143" name="Shape 143"/>
            <p:cNvCxnSpPr/>
            <p:nvPr/>
          </p:nvCxnSpPr>
          <p:spPr>
            <a:xfrm>
              <a:off x="3106272" y="1972448"/>
              <a:ext cx="2041710" cy="0"/>
            </a:xfrm>
            <a:prstGeom prst="straightConnector1">
              <a:avLst/>
            </a:prstGeom>
            <a:noFill/>
            <a:ln w="12700" cap="flat" cmpd="sng">
              <a:solidFill>
                <a:srgbClr val="FF0000"/>
              </a:solidFill>
              <a:prstDash val="solid"/>
              <a:miter/>
              <a:headEnd type="triangle" w="lg" len="lg"/>
              <a:tailEnd type="triangle" w="lg" len="lg"/>
            </a:ln>
          </p:spPr>
        </p:cxnSp>
        <p:cxnSp>
          <p:nvCxnSpPr>
            <p:cNvPr id="144" name="Shape 144"/>
            <p:cNvCxnSpPr/>
            <p:nvPr/>
          </p:nvCxnSpPr>
          <p:spPr>
            <a:xfrm>
              <a:off x="7044017" y="1972448"/>
              <a:ext cx="2041710" cy="0"/>
            </a:xfrm>
            <a:prstGeom prst="straightConnector1">
              <a:avLst/>
            </a:prstGeom>
            <a:noFill/>
            <a:ln w="12700" cap="flat" cmpd="sng">
              <a:solidFill>
                <a:srgbClr val="FF0000"/>
              </a:solidFill>
              <a:prstDash val="solid"/>
              <a:miter/>
              <a:headEnd type="triangle" w="lg" len="lg"/>
              <a:tailEnd type="triangle" w="lg" len="lg"/>
            </a:ln>
          </p:spPr>
        </p:cxnSp>
        <p:sp>
          <p:nvSpPr>
            <p:cNvPr id="145" name="Shape 145"/>
            <p:cNvSpPr/>
            <p:nvPr/>
          </p:nvSpPr>
          <p:spPr>
            <a:xfrm>
              <a:off x="1241612" y="2954288"/>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Thing</a:t>
              </a:r>
            </a:p>
          </p:txBody>
        </p:sp>
        <p:sp>
          <p:nvSpPr>
            <p:cNvPr id="146" name="Shape 146"/>
            <p:cNvSpPr/>
            <p:nvPr/>
          </p:nvSpPr>
          <p:spPr>
            <a:xfrm>
              <a:off x="5179358" y="2954288"/>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Gateway</a:t>
              </a:r>
            </a:p>
          </p:txBody>
        </p:sp>
        <p:sp>
          <p:nvSpPr>
            <p:cNvPr id="147" name="Shape 147"/>
            <p:cNvSpPr/>
            <p:nvPr/>
          </p:nvSpPr>
          <p:spPr>
            <a:xfrm>
              <a:off x="9117104" y="2954288"/>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Cloud</a:t>
              </a:r>
            </a:p>
          </p:txBody>
        </p:sp>
        <p:sp>
          <p:nvSpPr>
            <p:cNvPr id="148" name="Shape 148"/>
            <p:cNvSpPr txBox="1"/>
            <p:nvPr/>
          </p:nvSpPr>
          <p:spPr>
            <a:xfrm>
              <a:off x="369721" y="2526828"/>
              <a:ext cx="2157001" cy="369332"/>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0" i="0" u="none" strike="noStrike" cap="none" baseline="0">
                  <a:solidFill>
                    <a:srgbClr val="FF0000"/>
                  </a:solidFill>
                  <a:latin typeface="Calibri"/>
                  <a:ea typeface="Calibri"/>
                  <a:cs typeface="Calibri"/>
                  <a:sym typeface="Calibri"/>
                </a:rPr>
                <a:t>Standard Connection</a:t>
              </a:r>
            </a:p>
          </p:txBody>
        </p:sp>
        <p:cxnSp>
          <p:nvCxnSpPr>
            <p:cNvPr id="149" name="Shape 149"/>
            <p:cNvCxnSpPr/>
            <p:nvPr/>
          </p:nvCxnSpPr>
          <p:spPr>
            <a:xfrm>
              <a:off x="7061947" y="3523337"/>
              <a:ext cx="2041710" cy="0"/>
            </a:xfrm>
            <a:prstGeom prst="straightConnector1">
              <a:avLst/>
            </a:prstGeom>
            <a:noFill/>
            <a:ln w="12700" cap="flat" cmpd="sng">
              <a:solidFill>
                <a:srgbClr val="FF0000"/>
              </a:solidFill>
              <a:prstDash val="dash"/>
              <a:miter/>
              <a:headEnd type="triangle" w="lg" len="lg"/>
              <a:tailEnd type="triangle" w="lg" len="lg"/>
            </a:ln>
          </p:spPr>
        </p:cxnSp>
        <p:cxnSp>
          <p:nvCxnSpPr>
            <p:cNvPr id="150" name="Shape 150"/>
            <p:cNvCxnSpPr/>
            <p:nvPr/>
          </p:nvCxnSpPr>
          <p:spPr>
            <a:xfrm>
              <a:off x="3106272" y="2286211"/>
              <a:ext cx="2041710" cy="0"/>
            </a:xfrm>
            <a:prstGeom prst="straightConnector1">
              <a:avLst/>
            </a:prstGeom>
            <a:noFill/>
            <a:ln w="12700" cap="flat" cmpd="sng">
              <a:solidFill>
                <a:srgbClr val="FF0000"/>
              </a:solidFill>
              <a:prstDash val="solid"/>
              <a:miter/>
              <a:headEnd type="triangle" w="lg" len="lg"/>
              <a:tailEnd type="triangle" w="lg" len="lg"/>
            </a:ln>
          </p:spPr>
        </p:cxnSp>
        <p:cxnSp>
          <p:nvCxnSpPr>
            <p:cNvPr id="151" name="Shape 151"/>
            <p:cNvCxnSpPr/>
            <p:nvPr/>
          </p:nvCxnSpPr>
          <p:spPr>
            <a:xfrm>
              <a:off x="7061947" y="2286211"/>
              <a:ext cx="2041710" cy="0"/>
            </a:xfrm>
            <a:prstGeom prst="straightConnector1">
              <a:avLst/>
            </a:prstGeom>
            <a:noFill/>
            <a:ln w="12700" cap="flat" cmpd="sng">
              <a:solidFill>
                <a:srgbClr val="FF0000"/>
              </a:solidFill>
              <a:prstDash val="solid"/>
              <a:miter/>
              <a:headEnd type="triangle" w="lg" len="lg"/>
              <a:tailEnd type="triangle" w="lg" len="lg"/>
            </a:ln>
          </p:spPr>
        </p:cxnSp>
        <p:cxnSp>
          <p:nvCxnSpPr>
            <p:cNvPr id="152" name="Shape 152"/>
            <p:cNvCxnSpPr/>
            <p:nvPr/>
          </p:nvCxnSpPr>
          <p:spPr>
            <a:xfrm>
              <a:off x="3137649" y="3523337"/>
              <a:ext cx="2041710" cy="0"/>
            </a:xfrm>
            <a:prstGeom prst="straightConnector1">
              <a:avLst/>
            </a:prstGeom>
            <a:noFill/>
            <a:ln w="12700" cap="flat" cmpd="sng">
              <a:solidFill>
                <a:srgbClr val="FF0000"/>
              </a:solidFill>
              <a:prstDash val="solid"/>
              <a:miter/>
              <a:headEnd type="triangle" w="lg" len="lg"/>
              <a:tailEnd type="triangle" w="lg" len="lg"/>
            </a:ln>
          </p:spPr>
        </p:cxnSp>
        <p:cxnSp>
          <p:nvCxnSpPr>
            <p:cNvPr id="153" name="Shape 153"/>
            <p:cNvCxnSpPr/>
            <p:nvPr/>
          </p:nvCxnSpPr>
          <p:spPr>
            <a:xfrm>
              <a:off x="7061947" y="3205090"/>
              <a:ext cx="2041710" cy="0"/>
            </a:xfrm>
            <a:prstGeom prst="straightConnector1">
              <a:avLst/>
            </a:prstGeom>
            <a:noFill/>
            <a:ln w="12700" cap="flat" cmpd="sng">
              <a:solidFill>
                <a:srgbClr val="FF0000"/>
              </a:solidFill>
              <a:prstDash val="dash"/>
              <a:miter/>
              <a:headEnd type="triangle" w="lg" len="lg"/>
              <a:tailEnd type="triangle" w="lg" len="lg"/>
            </a:ln>
          </p:spPr>
        </p:cxnSp>
        <p:cxnSp>
          <p:nvCxnSpPr>
            <p:cNvPr id="154" name="Shape 154"/>
            <p:cNvCxnSpPr/>
            <p:nvPr/>
          </p:nvCxnSpPr>
          <p:spPr>
            <a:xfrm>
              <a:off x="3137649" y="3205090"/>
              <a:ext cx="2041710" cy="0"/>
            </a:xfrm>
            <a:prstGeom prst="straightConnector1">
              <a:avLst/>
            </a:prstGeom>
            <a:noFill/>
            <a:ln w="12700" cap="flat" cmpd="sng">
              <a:solidFill>
                <a:srgbClr val="FF0000"/>
              </a:solidFill>
              <a:prstDash val="solid"/>
              <a:miter/>
              <a:headEnd type="triangle" w="lg" len="lg"/>
              <a:tailEnd type="triangle" w="lg" len="lg"/>
            </a:ln>
          </p:spPr>
        </p:cxnSp>
        <p:sp>
          <p:nvSpPr>
            <p:cNvPr id="155" name="Shape 155"/>
            <p:cNvSpPr/>
            <p:nvPr/>
          </p:nvSpPr>
          <p:spPr>
            <a:xfrm>
              <a:off x="1232649" y="4128660"/>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Thing</a:t>
              </a:r>
            </a:p>
          </p:txBody>
        </p:sp>
        <p:sp>
          <p:nvSpPr>
            <p:cNvPr id="156" name="Shape 156"/>
            <p:cNvSpPr/>
            <p:nvPr/>
          </p:nvSpPr>
          <p:spPr>
            <a:xfrm>
              <a:off x="5170394" y="4128660"/>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Gateway</a:t>
              </a:r>
            </a:p>
          </p:txBody>
        </p:sp>
        <p:sp>
          <p:nvSpPr>
            <p:cNvPr id="157" name="Shape 157"/>
            <p:cNvSpPr/>
            <p:nvPr/>
          </p:nvSpPr>
          <p:spPr>
            <a:xfrm>
              <a:off x="9108140" y="4128660"/>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Cloud</a:t>
              </a:r>
            </a:p>
          </p:txBody>
        </p:sp>
        <p:sp>
          <p:nvSpPr>
            <p:cNvPr id="158" name="Shape 158"/>
            <p:cNvSpPr txBox="1"/>
            <p:nvPr/>
          </p:nvSpPr>
          <p:spPr>
            <a:xfrm>
              <a:off x="360758" y="3701201"/>
              <a:ext cx="2344040" cy="369332"/>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0" i="0" u="none" strike="noStrike" cap="none" baseline="0">
                  <a:solidFill>
                    <a:srgbClr val="FF0000"/>
                  </a:solidFill>
                  <a:latin typeface="Calibri"/>
                  <a:ea typeface="Calibri"/>
                  <a:cs typeface="Calibri"/>
                  <a:sym typeface="Calibri"/>
                </a:rPr>
                <a:t>Low Power Connection</a:t>
              </a:r>
            </a:p>
          </p:txBody>
        </p:sp>
        <p:cxnSp>
          <p:nvCxnSpPr>
            <p:cNvPr id="159" name="Shape 159"/>
            <p:cNvCxnSpPr>
              <a:stCxn id="157" idx="2"/>
            </p:cNvCxnSpPr>
            <p:nvPr/>
          </p:nvCxnSpPr>
          <p:spPr>
            <a:xfrm rot="10800000">
              <a:off x="7436240" y="4128750"/>
              <a:ext cx="1671900" cy="380700"/>
            </a:xfrm>
            <a:prstGeom prst="curvedConnector3">
              <a:avLst>
                <a:gd name="adj1" fmla="val 25288"/>
              </a:avLst>
            </a:prstGeom>
            <a:noFill/>
            <a:ln w="9525" cap="flat" cmpd="sng">
              <a:solidFill>
                <a:srgbClr val="FF0000"/>
              </a:solidFill>
              <a:prstDash val="dot"/>
              <a:miter/>
              <a:headEnd type="none" w="med" len="med"/>
              <a:tailEnd type="triangle" w="lg" len="lg"/>
            </a:ln>
          </p:spPr>
        </p:cxnSp>
        <p:cxnSp>
          <p:nvCxnSpPr>
            <p:cNvPr id="160" name="Shape 160"/>
            <p:cNvCxnSpPr/>
            <p:nvPr/>
          </p:nvCxnSpPr>
          <p:spPr>
            <a:xfrm rot="10800000">
              <a:off x="3476067" y="4119272"/>
              <a:ext cx="1671914" cy="380789"/>
            </a:xfrm>
            <a:prstGeom prst="curvedConnector3">
              <a:avLst>
                <a:gd name="adj1" fmla="val 59106"/>
              </a:avLst>
            </a:prstGeom>
            <a:noFill/>
            <a:ln w="9525" cap="flat" cmpd="sng">
              <a:solidFill>
                <a:srgbClr val="FF0000"/>
              </a:solidFill>
              <a:prstDash val="dot"/>
              <a:miter/>
              <a:headEnd type="none" w="med" len="med"/>
              <a:tailEnd type="triangle" w="lg" len="lg"/>
            </a:ln>
          </p:spPr>
        </p:cxnSp>
        <p:cxnSp>
          <p:nvCxnSpPr>
            <p:cNvPr id="161" name="Shape 161"/>
            <p:cNvCxnSpPr/>
            <p:nvPr/>
          </p:nvCxnSpPr>
          <p:spPr>
            <a:xfrm>
              <a:off x="3128684" y="4760258"/>
              <a:ext cx="2019296" cy="13447"/>
            </a:xfrm>
            <a:prstGeom prst="straightConnector1">
              <a:avLst/>
            </a:prstGeom>
            <a:noFill/>
            <a:ln w="9525" cap="flat" cmpd="sng">
              <a:solidFill>
                <a:srgbClr val="FF0000"/>
              </a:solidFill>
              <a:prstDash val="dash"/>
              <a:miter/>
              <a:headEnd type="none" w="med" len="med"/>
              <a:tailEnd type="triangle" w="lg" len="lg"/>
            </a:ln>
          </p:spPr>
        </p:cxnSp>
        <p:cxnSp>
          <p:nvCxnSpPr>
            <p:cNvPr id="162" name="Shape 162"/>
            <p:cNvCxnSpPr/>
            <p:nvPr/>
          </p:nvCxnSpPr>
          <p:spPr>
            <a:xfrm>
              <a:off x="7088843" y="4733364"/>
              <a:ext cx="2019296" cy="13447"/>
            </a:xfrm>
            <a:prstGeom prst="straightConnector1">
              <a:avLst/>
            </a:prstGeom>
            <a:noFill/>
            <a:ln w="9525" cap="flat" cmpd="sng">
              <a:solidFill>
                <a:srgbClr val="FF0000"/>
              </a:solidFill>
              <a:prstDash val="dash"/>
              <a:miter/>
              <a:headEnd type="none" w="med" len="med"/>
              <a:tailEnd type="triangle" w="lg" len="lg"/>
            </a:ln>
          </p:spPr>
        </p:cxnSp>
        <p:sp>
          <p:nvSpPr>
            <p:cNvPr id="163" name="Shape 163"/>
            <p:cNvSpPr/>
            <p:nvPr/>
          </p:nvSpPr>
          <p:spPr>
            <a:xfrm>
              <a:off x="1250579" y="5424055"/>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Thing</a:t>
              </a:r>
            </a:p>
          </p:txBody>
        </p:sp>
        <p:sp>
          <p:nvSpPr>
            <p:cNvPr id="164" name="Shape 164"/>
            <p:cNvSpPr/>
            <p:nvPr/>
          </p:nvSpPr>
          <p:spPr>
            <a:xfrm>
              <a:off x="5188325" y="5424055"/>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Gateway</a:t>
              </a:r>
            </a:p>
          </p:txBody>
        </p:sp>
        <p:sp>
          <p:nvSpPr>
            <p:cNvPr id="165" name="Shape 165"/>
            <p:cNvSpPr/>
            <p:nvPr/>
          </p:nvSpPr>
          <p:spPr>
            <a:xfrm>
              <a:off x="9126071" y="5424055"/>
              <a:ext cx="1896036" cy="761579"/>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Cloud</a:t>
              </a:r>
            </a:p>
          </p:txBody>
        </p:sp>
        <p:sp>
          <p:nvSpPr>
            <p:cNvPr id="166" name="Shape 166"/>
            <p:cNvSpPr txBox="1"/>
            <p:nvPr/>
          </p:nvSpPr>
          <p:spPr>
            <a:xfrm>
              <a:off x="378687" y="4996596"/>
              <a:ext cx="2860397" cy="369332"/>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800" b="0" i="0" u="none" strike="noStrike" cap="none" baseline="0">
                  <a:solidFill>
                    <a:srgbClr val="FF0000"/>
                  </a:solidFill>
                  <a:latin typeface="Calibri"/>
                  <a:ea typeface="Calibri"/>
                  <a:cs typeface="Calibri"/>
                  <a:sym typeface="Calibri"/>
                </a:rPr>
                <a:t>Ultra Low Power Connection</a:t>
              </a:r>
            </a:p>
          </p:txBody>
        </p:sp>
        <p:cxnSp>
          <p:nvCxnSpPr>
            <p:cNvPr id="167" name="Shape 167"/>
            <p:cNvCxnSpPr/>
            <p:nvPr/>
          </p:nvCxnSpPr>
          <p:spPr>
            <a:xfrm>
              <a:off x="3146615" y="6015312"/>
              <a:ext cx="2019296" cy="13447"/>
            </a:xfrm>
            <a:prstGeom prst="straightConnector1">
              <a:avLst/>
            </a:prstGeom>
            <a:noFill/>
            <a:ln w="9525" cap="flat" cmpd="sng">
              <a:solidFill>
                <a:srgbClr val="FF0000"/>
              </a:solidFill>
              <a:prstDash val="dash"/>
              <a:miter/>
              <a:headEnd type="none" w="med" len="med"/>
              <a:tailEnd type="triangle" w="lg" len="lg"/>
            </a:ln>
          </p:spPr>
        </p:cxnSp>
        <p:cxnSp>
          <p:nvCxnSpPr>
            <p:cNvPr id="168" name="Shape 168"/>
            <p:cNvCxnSpPr/>
            <p:nvPr/>
          </p:nvCxnSpPr>
          <p:spPr>
            <a:xfrm>
              <a:off x="7106774" y="6028760"/>
              <a:ext cx="2019296" cy="13447"/>
            </a:xfrm>
            <a:prstGeom prst="straightConnector1">
              <a:avLst/>
            </a:prstGeom>
            <a:noFill/>
            <a:ln w="9525" cap="flat" cmpd="sng">
              <a:solidFill>
                <a:srgbClr val="FF0000"/>
              </a:solidFill>
              <a:prstDash val="dash"/>
              <a:miter/>
              <a:headEnd type="none" w="med" len="med"/>
              <a:tailEnd type="triangle" w="lg" len="lg"/>
            </a:ln>
          </p:spPr>
        </p:cxnSp>
      </p:grpSp>
    </p:spTree>
  </p:cSld>
  <p:clrMapOvr>
    <a:masterClrMapping/>
  </p:clrMapOvr>
  <p:transition spd="slow">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Shape 173"/>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400" b="0" i="0" u="none" strike="noStrike" cap="none" baseline="0" dirty="0">
                <a:solidFill>
                  <a:schemeClr val="dk1"/>
                </a:solidFill>
                <a:ea typeface="Calibri"/>
                <a:cs typeface="Calibri"/>
                <a:sym typeface="Calibri"/>
              </a:rPr>
              <a:t>Finding the ‘common thing’ in things</a:t>
            </a:r>
          </a:p>
        </p:txBody>
      </p:sp>
      <p:sp>
        <p:nvSpPr>
          <p:cNvPr id="174" name="Shape 174"/>
          <p:cNvSpPr txBox="1"/>
          <p:nvPr/>
        </p:nvSpPr>
        <p:spPr>
          <a:xfrm>
            <a:off x="926844" y="1650985"/>
            <a:ext cx="10019062" cy="4093427"/>
          </a:xfrm>
          <a:prstGeom prst="rect">
            <a:avLst/>
          </a:prstGeom>
          <a:noFill/>
          <a:ln>
            <a:noFill/>
          </a:ln>
        </p:spPr>
        <p:txBody>
          <a:bodyPr lIns="91425" tIns="45700" rIns="91425" bIns="45700" anchor="t" anchorCtr="0">
            <a:noAutofit/>
          </a:bodyPr>
          <a:lstStyle/>
          <a:p>
            <a:pPr marL="285750" marR="0" lvl="0" indent="-285750" algn="l" rtl="0">
              <a:spcBef>
                <a:spcPts val="0"/>
              </a:spcBef>
              <a:buClr>
                <a:schemeClr val="dk1"/>
              </a:buClr>
              <a:buSzPct val="100000"/>
              <a:buFont typeface="Arial"/>
              <a:buChar char="•"/>
            </a:pPr>
            <a:r>
              <a:rPr lang="en-US" sz="2200" b="0" i="0" u="none" strike="noStrike" cap="none" baseline="0">
                <a:solidFill>
                  <a:schemeClr val="dk1"/>
                </a:solidFill>
                <a:latin typeface="Calibri"/>
                <a:ea typeface="Calibri"/>
                <a:cs typeface="Calibri"/>
                <a:sym typeface="Calibri"/>
              </a:rPr>
              <a:t>The fundamental stuff that build our ‘Things’ are either sensors or actuators or both. In other words they are  composed of ‘Data receivers’ and/or  ‘Data Transmitters’. </a:t>
            </a:r>
          </a:p>
          <a:p>
            <a:pPr marL="285750" marR="0" lvl="0" indent="-285750" algn="l" rtl="0">
              <a:spcBef>
                <a:spcPts val="0"/>
              </a:spcBef>
              <a:buClr>
                <a:schemeClr val="dk1"/>
              </a:buClr>
              <a:buSzPct val="100000"/>
              <a:buFont typeface="Arial"/>
              <a:buChar char="•"/>
            </a:pPr>
            <a:r>
              <a:rPr lang="en-US" sz="2200" b="0" i="0" u="none" strike="noStrike" cap="none" baseline="0">
                <a:solidFill>
                  <a:schemeClr val="dk1"/>
                </a:solidFill>
                <a:latin typeface="Calibri"/>
                <a:ea typeface="Calibri"/>
                <a:cs typeface="Calibri"/>
                <a:sym typeface="Calibri"/>
              </a:rPr>
              <a:t>They need a microcontroller that interfaces them with a network.</a:t>
            </a:r>
          </a:p>
          <a:p>
            <a:pPr marL="285750" marR="0" lvl="0" indent="-285750" algn="l" rtl="0">
              <a:spcBef>
                <a:spcPts val="0"/>
              </a:spcBef>
              <a:buClr>
                <a:schemeClr val="dk1"/>
              </a:buClr>
              <a:buSzPct val="100000"/>
              <a:buFont typeface="Arial"/>
              <a:buChar char="•"/>
            </a:pPr>
            <a:r>
              <a:rPr lang="en-US" sz="2200" b="0" i="0" u="none" strike="noStrike" cap="none" baseline="0">
                <a:solidFill>
                  <a:schemeClr val="dk1"/>
                </a:solidFill>
                <a:latin typeface="Calibri"/>
                <a:ea typeface="Calibri"/>
                <a:cs typeface="Calibri"/>
                <a:sym typeface="Calibri"/>
              </a:rPr>
              <a:t>There exists a device that hooks up with the microcontroller following some  ‘communication protocols’ via Internet to a server. Either data is sent, received, or an event is associated with the data.</a:t>
            </a:r>
          </a:p>
          <a:p>
            <a:pPr marL="285750" marR="0" lvl="0" indent="-285750" algn="l" rtl="0">
              <a:spcBef>
                <a:spcPts val="0"/>
              </a:spcBef>
              <a:buClr>
                <a:schemeClr val="dk1"/>
              </a:buClr>
              <a:buSzPct val="100000"/>
              <a:buFont typeface="Arial"/>
              <a:buChar char="•"/>
            </a:pPr>
            <a:r>
              <a:rPr lang="en-US" sz="2200" b="0" i="0" u="none" strike="noStrike" cap="none" baseline="0">
                <a:solidFill>
                  <a:schemeClr val="dk1"/>
                </a:solidFill>
                <a:latin typeface="Calibri"/>
                <a:ea typeface="Calibri"/>
                <a:cs typeface="Calibri"/>
                <a:sym typeface="Calibri"/>
              </a:rPr>
              <a:t>The Server Implements a middleware or a communication gateway for various devices to connect to it.</a:t>
            </a:r>
          </a:p>
          <a:p>
            <a:pPr marL="285750" marR="0" lvl="0" indent="-285750" algn="l" rtl="0">
              <a:spcBef>
                <a:spcPts val="0"/>
              </a:spcBef>
              <a:buClr>
                <a:schemeClr val="dk1"/>
              </a:buClr>
              <a:buSzPct val="100000"/>
              <a:buFont typeface="Arial"/>
              <a:buChar char="•"/>
            </a:pPr>
            <a:r>
              <a:rPr lang="en-US" sz="2200" b="0" i="0" u="none" strike="noStrike" cap="none" baseline="0">
                <a:solidFill>
                  <a:schemeClr val="dk1"/>
                </a:solidFill>
                <a:latin typeface="Calibri"/>
                <a:ea typeface="Calibri"/>
                <a:cs typeface="Calibri"/>
                <a:sym typeface="Calibri"/>
              </a:rPr>
              <a:t>It is also associated with a domain specific application that conveys some meaning to the data and which also deploy some policies. </a:t>
            </a:r>
          </a:p>
          <a:p>
            <a:pPr marL="0" marR="0" lvl="0" indent="0" algn="l" rtl="0">
              <a:spcBef>
                <a:spcPts val="0"/>
              </a:spcBef>
              <a:buNone/>
            </a:pPr>
            <a:endParaRPr sz="1800" b="0" i="0" u="none" strike="noStrike" cap="none" baseline="0">
              <a:solidFill>
                <a:schemeClr val="dk1"/>
              </a:solidFill>
              <a:latin typeface="Calibri"/>
              <a:ea typeface="Calibri"/>
              <a:cs typeface="Calibri"/>
              <a:sym typeface="Calibri"/>
            </a:endParaRPr>
          </a:p>
        </p:txBody>
      </p:sp>
    </p:spTree>
  </p:cSld>
  <p:clrMapOvr>
    <a:masterClrMapping/>
  </p:clrMapOvr>
  <p:transition spd="slow">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986117" y="0"/>
            <a:ext cx="10515599" cy="1325562"/>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400" b="0" i="0" u="none" strike="noStrike" cap="none" baseline="0" dirty="0" smtClean="0">
                <a:solidFill>
                  <a:schemeClr val="dk1"/>
                </a:solidFill>
                <a:ea typeface="Calibri"/>
                <a:cs typeface="Calibri"/>
                <a:sym typeface="Calibri"/>
              </a:rPr>
              <a:t>A </a:t>
            </a:r>
            <a:r>
              <a:rPr lang="en-US" sz="4400" b="0" i="0" u="none" strike="noStrike" cap="none" baseline="0" dirty="0">
                <a:solidFill>
                  <a:schemeClr val="dk1"/>
                </a:solidFill>
                <a:ea typeface="Calibri"/>
                <a:cs typeface="Calibri"/>
                <a:sym typeface="Calibri"/>
              </a:rPr>
              <a:t>‘Generic’ Architecture for IOT</a:t>
            </a:r>
          </a:p>
        </p:txBody>
      </p:sp>
      <p:grpSp>
        <p:nvGrpSpPr>
          <p:cNvPr id="180" name="Shape 180"/>
          <p:cNvGrpSpPr/>
          <p:nvPr/>
        </p:nvGrpSpPr>
        <p:grpSpPr>
          <a:xfrm>
            <a:off x="600845" y="1325562"/>
            <a:ext cx="11172271" cy="5250887"/>
            <a:chOff x="677045" y="1325562"/>
            <a:chExt cx="11172271" cy="5250887"/>
          </a:xfrm>
        </p:grpSpPr>
        <p:sp>
          <p:nvSpPr>
            <p:cNvPr id="181" name="Shape 181"/>
            <p:cNvSpPr/>
            <p:nvPr/>
          </p:nvSpPr>
          <p:spPr>
            <a:xfrm>
              <a:off x="845134" y="1374867"/>
              <a:ext cx="1559859" cy="618563"/>
            </a:xfrm>
            <a:prstGeom prst="ellipse">
              <a:avLst/>
            </a:prstGeom>
            <a:solidFill>
              <a:schemeClr val="lt1"/>
            </a:solidFill>
            <a:ln w="12700" cap="flat" cmpd="sng">
              <a:solidFill>
                <a:schemeClr val="accent6"/>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Sensor</a:t>
              </a:r>
            </a:p>
          </p:txBody>
        </p:sp>
        <p:sp>
          <p:nvSpPr>
            <p:cNvPr id="182" name="Shape 182"/>
            <p:cNvSpPr/>
            <p:nvPr/>
          </p:nvSpPr>
          <p:spPr>
            <a:xfrm>
              <a:off x="677045" y="2175994"/>
              <a:ext cx="1896036" cy="524436"/>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Microcontroller</a:t>
              </a:r>
            </a:p>
          </p:txBody>
        </p:sp>
        <p:sp>
          <p:nvSpPr>
            <p:cNvPr id="183" name="Shape 183"/>
            <p:cNvSpPr/>
            <p:nvPr/>
          </p:nvSpPr>
          <p:spPr>
            <a:xfrm>
              <a:off x="2808403" y="1374867"/>
              <a:ext cx="1559859" cy="618563"/>
            </a:xfrm>
            <a:prstGeom prst="ellipse">
              <a:avLst/>
            </a:prstGeom>
            <a:solidFill>
              <a:schemeClr val="lt1"/>
            </a:solidFill>
            <a:ln w="12700" cap="flat" cmpd="sng">
              <a:solidFill>
                <a:schemeClr val="accent6"/>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Sensor</a:t>
              </a:r>
            </a:p>
          </p:txBody>
        </p:sp>
        <p:sp>
          <p:nvSpPr>
            <p:cNvPr id="184" name="Shape 184"/>
            <p:cNvSpPr/>
            <p:nvPr/>
          </p:nvSpPr>
          <p:spPr>
            <a:xfrm>
              <a:off x="4677546" y="1374867"/>
              <a:ext cx="1559859" cy="618563"/>
            </a:xfrm>
            <a:prstGeom prst="ellipse">
              <a:avLst/>
            </a:prstGeom>
            <a:solidFill>
              <a:schemeClr val="lt1"/>
            </a:solidFill>
            <a:ln w="12700" cap="flat" cmpd="sng">
              <a:solidFill>
                <a:schemeClr val="accent6"/>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Actuator</a:t>
              </a:r>
            </a:p>
          </p:txBody>
        </p:sp>
        <p:sp>
          <p:nvSpPr>
            <p:cNvPr id="185" name="Shape 185"/>
            <p:cNvSpPr/>
            <p:nvPr/>
          </p:nvSpPr>
          <p:spPr>
            <a:xfrm>
              <a:off x="3729528" y="2175994"/>
              <a:ext cx="1896036" cy="524436"/>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Microcontroller</a:t>
              </a:r>
            </a:p>
          </p:txBody>
        </p:sp>
        <p:sp>
          <p:nvSpPr>
            <p:cNvPr id="186" name="Shape 186"/>
            <p:cNvSpPr/>
            <p:nvPr/>
          </p:nvSpPr>
          <p:spPr>
            <a:xfrm>
              <a:off x="1203723" y="3318994"/>
              <a:ext cx="3818964" cy="632011"/>
            </a:xfrm>
            <a:prstGeom prst="round2DiagRect">
              <a:avLst>
                <a:gd name="adj1" fmla="val 16667"/>
                <a:gd name="adj2" fmla="val 0"/>
              </a:avLst>
            </a:prstGeom>
            <a:solidFill>
              <a:schemeClr val="lt1"/>
            </a:solidFill>
            <a:ln w="12700" cap="flat" cmpd="sng">
              <a:solidFill>
                <a:schemeClr val="accent5"/>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Cluster Head</a:t>
              </a:r>
            </a:p>
          </p:txBody>
        </p:sp>
        <p:sp>
          <p:nvSpPr>
            <p:cNvPr id="187" name="Shape 187"/>
            <p:cNvSpPr/>
            <p:nvPr/>
          </p:nvSpPr>
          <p:spPr>
            <a:xfrm>
              <a:off x="4274132" y="5115205"/>
              <a:ext cx="3294529" cy="779928"/>
            </a:xfrm>
            <a:prstGeom prst="rect">
              <a:avLst/>
            </a:prstGeom>
            <a:solidFill>
              <a:schemeClr val="lt1"/>
            </a:solidFill>
            <a:ln w="12700" cap="flat" cmpd="sng">
              <a:solidFill>
                <a:schemeClr val="accent3"/>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Device Server (Handles Communication)</a:t>
              </a:r>
            </a:p>
          </p:txBody>
        </p:sp>
        <p:sp>
          <p:nvSpPr>
            <p:cNvPr id="188" name="Shape 188"/>
            <p:cNvSpPr/>
            <p:nvPr/>
          </p:nvSpPr>
          <p:spPr>
            <a:xfrm>
              <a:off x="4274132" y="5895133"/>
              <a:ext cx="3294529" cy="681316"/>
            </a:xfrm>
            <a:prstGeom prst="rect">
              <a:avLst/>
            </a:prstGeom>
            <a:solidFill>
              <a:schemeClr val="lt1"/>
            </a:solidFill>
            <a:ln w="12700" cap="flat" cmpd="sng">
              <a:solidFill>
                <a:schemeClr val="accent3"/>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App’s Server</a:t>
              </a:r>
            </a:p>
          </p:txBody>
        </p:sp>
        <p:sp>
          <p:nvSpPr>
            <p:cNvPr id="189" name="Shape 189"/>
            <p:cNvSpPr/>
            <p:nvPr/>
          </p:nvSpPr>
          <p:spPr>
            <a:xfrm>
              <a:off x="6457046" y="1352457"/>
              <a:ext cx="1559859" cy="618563"/>
            </a:xfrm>
            <a:prstGeom prst="ellipse">
              <a:avLst/>
            </a:prstGeom>
            <a:solidFill>
              <a:schemeClr val="lt1"/>
            </a:solidFill>
            <a:ln w="12700" cap="flat" cmpd="sng">
              <a:solidFill>
                <a:schemeClr val="accent6"/>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Sensor</a:t>
              </a:r>
            </a:p>
          </p:txBody>
        </p:sp>
        <p:sp>
          <p:nvSpPr>
            <p:cNvPr id="190" name="Shape 190"/>
            <p:cNvSpPr/>
            <p:nvPr/>
          </p:nvSpPr>
          <p:spPr>
            <a:xfrm>
              <a:off x="6288957" y="2153583"/>
              <a:ext cx="1896036" cy="524436"/>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Microcontroller</a:t>
              </a:r>
            </a:p>
          </p:txBody>
        </p:sp>
        <p:sp>
          <p:nvSpPr>
            <p:cNvPr id="191" name="Shape 191"/>
            <p:cNvSpPr/>
            <p:nvPr/>
          </p:nvSpPr>
          <p:spPr>
            <a:xfrm>
              <a:off x="8420315" y="1352457"/>
              <a:ext cx="1559859" cy="618563"/>
            </a:xfrm>
            <a:prstGeom prst="ellipse">
              <a:avLst/>
            </a:prstGeom>
            <a:solidFill>
              <a:schemeClr val="lt1"/>
            </a:solidFill>
            <a:ln w="12700" cap="flat" cmpd="sng">
              <a:solidFill>
                <a:schemeClr val="accent6"/>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Sensor</a:t>
              </a:r>
            </a:p>
          </p:txBody>
        </p:sp>
        <p:sp>
          <p:nvSpPr>
            <p:cNvPr id="192" name="Shape 192"/>
            <p:cNvSpPr/>
            <p:nvPr/>
          </p:nvSpPr>
          <p:spPr>
            <a:xfrm>
              <a:off x="10289457" y="1325562"/>
              <a:ext cx="1559859" cy="618563"/>
            </a:xfrm>
            <a:prstGeom prst="ellipse">
              <a:avLst/>
            </a:prstGeom>
            <a:solidFill>
              <a:schemeClr val="lt1"/>
            </a:solidFill>
            <a:ln w="12700" cap="flat" cmpd="sng">
              <a:solidFill>
                <a:schemeClr val="accent6"/>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Actuator</a:t>
              </a:r>
            </a:p>
          </p:txBody>
        </p:sp>
        <p:sp>
          <p:nvSpPr>
            <p:cNvPr id="193" name="Shape 193"/>
            <p:cNvSpPr/>
            <p:nvPr/>
          </p:nvSpPr>
          <p:spPr>
            <a:xfrm>
              <a:off x="9341439" y="2153583"/>
              <a:ext cx="1896036" cy="524436"/>
            </a:xfrm>
            <a:prstGeom prst="snip2DiagRect">
              <a:avLst>
                <a:gd name="adj1" fmla="val 0"/>
                <a:gd name="adj2" fmla="val 16667"/>
              </a:avLst>
            </a:prstGeom>
            <a:solidFill>
              <a:schemeClr val="lt1"/>
            </a:solidFill>
            <a:ln w="12700" cap="flat" cmpd="sng">
              <a:solidFill>
                <a:schemeClr val="accent2"/>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Microcontroller</a:t>
              </a:r>
            </a:p>
          </p:txBody>
        </p:sp>
        <p:sp>
          <p:nvSpPr>
            <p:cNvPr id="194" name="Shape 194"/>
            <p:cNvSpPr/>
            <p:nvPr/>
          </p:nvSpPr>
          <p:spPr>
            <a:xfrm>
              <a:off x="6855970" y="3318994"/>
              <a:ext cx="3818964" cy="632011"/>
            </a:xfrm>
            <a:prstGeom prst="round2DiagRect">
              <a:avLst>
                <a:gd name="adj1" fmla="val 16667"/>
                <a:gd name="adj2" fmla="val 0"/>
              </a:avLst>
            </a:prstGeom>
            <a:solidFill>
              <a:schemeClr val="lt1"/>
            </a:solidFill>
            <a:ln w="12700" cap="flat" cmpd="sng">
              <a:solidFill>
                <a:schemeClr val="accent5"/>
              </a:solidFill>
              <a:prstDash val="solid"/>
              <a:miter/>
              <a:headEnd type="none" w="med" len="med"/>
              <a:tailEnd type="none" w="med" len="med"/>
            </a:ln>
          </p:spPr>
          <p:txBody>
            <a:bodyPr lIns="91425" tIns="45700" rIns="91425" bIns="45700" anchor="ctr" anchorCtr="0">
              <a:noAutofit/>
            </a:bodyPr>
            <a:lstStyle/>
            <a:p>
              <a:pPr marL="0" marR="0" lvl="0" indent="0" algn="ctr" rtl="0">
                <a:spcBef>
                  <a:spcPts val="0"/>
                </a:spcBef>
                <a:buSzPct val="25000"/>
                <a:buNone/>
              </a:pPr>
              <a:r>
                <a:rPr lang="en-US" sz="1800" b="0" i="0" u="none" strike="noStrike" cap="none" baseline="0">
                  <a:solidFill>
                    <a:schemeClr val="dk1"/>
                  </a:solidFill>
                  <a:latin typeface="Calibri"/>
                  <a:ea typeface="Calibri"/>
                  <a:cs typeface="Calibri"/>
                  <a:sym typeface="Calibri"/>
                </a:rPr>
                <a:t>Cluster Head</a:t>
              </a:r>
            </a:p>
          </p:txBody>
        </p:sp>
        <p:cxnSp>
          <p:nvCxnSpPr>
            <p:cNvPr id="195" name="Shape 195"/>
            <p:cNvCxnSpPr>
              <a:stCxn id="182" idx="1"/>
            </p:cNvCxnSpPr>
            <p:nvPr/>
          </p:nvCxnSpPr>
          <p:spPr>
            <a:xfrm>
              <a:off x="1625064" y="2700430"/>
              <a:ext cx="0" cy="618599"/>
            </a:xfrm>
            <a:prstGeom prst="straightConnector1">
              <a:avLst/>
            </a:prstGeom>
            <a:noFill/>
            <a:ln w="9525" cap="flat" cmpd="sng">
              <a:solidFill>
                <a:schemeClr val="dk1"/>
              </a:solidFill>
              <a:prstDash val="solid"/>
              <a:miter/>
              <a:headEnd type="triangle" w="lg" len="lg"/>
              <a:tailEnd type="triangle" w="lg" len="lg"/>
            </a:ln>
          </p:spPr>
        </p:cxnSp>
        <p:cxnSp>
          <p:nvCxnSpPr>
            <p:cNvPr id="196" name="Shape 196"/>
            <p:cNvCxnSpPr>
              <a:stCxn id="185" idx="1"/>
            </p:cNvCxnSpPr>
            <p:nvPr/>
          </p:nvCxnSpPr>
          <p:spPr>
            <a:xfrm>
              <a:off x="4677546" y="2700430"/>
              <a:ext cx="0" cy="618599"/>
            </a:xfrm>
            <a:prstGeom prst="straightConnector1">
              <a:avLst/>
            </a:prstGeom>
            <a:noFill/>
            <a:ln w="9525" cap="flat" cmpd="sng">
              <a:solidFill>
                <a:schemeClr val="dk1"/>
              </a:solidFill>
              <a:prstDash val="solid"/>
              <a:miter/>
              <a:headEnd type="triangle" w="lg" len="lg"/>
              <a:tailEnd type="triangle" w="lg" len="lg"/>
            </a:ln>
          </p:spPr>
        </p:cxnSp>
        <p:cxnSp>
          <p:nvCxnSpPr>
            <p:cNvPr id="197" name="Shape 197"/>
            <p:cNvCxnSpPr>
              <a:stCxn id="190" idx="1"/>
            </p:cNvCxnSpPr>
            <p:nvPr/>
          </p:nvCxnSpPr>
          <p:spPr>
            <a:xfrm>
              <a:off x="7236975" y="2678019"/>
              <a:ext cx="0" cy="641099"/>
            </a:xfrm>
            <a:prstGeom prst="straightConnector1">
              <a:avLst/>
            </a:prstGeom>
            <a:noFill/>
            <a:ln w="9525" cap="flat" cmpd="sng">
              <a:solidFill>
                <a:schemeClr val="dk1"/>
              </a:solidFill>
              <a:prstDash val="solid"/>
              <a:miter/>
              <a:headEnd type="triangle" w="lg" len="lg"/>
              <a:tailEnd type="triangle" w="lg" len="lg"/>
            </a:ln>
          </p:spPr>
        </p:cxnSp>
        <p:cxnSp>
          <p:nvCxnSpPr>
            <p:cNvPr id="198" name="Shape 198"/>
            <p:cNvCxnSpPr>
              <a:stCxn id="193" idx="1"/>
            </p:cNvCxnSpPr>
            <p:nvPr/>
          </p:nvCxnSpPr>
          <p:spPr>
            <a:xfrm>
              <a:off x="10289457" y="2678019"/>
              <a:ext cx="0" cy="641099"/>
            </a:xfrm>
            <a:prstGeom prst="straightConnector1">
              <a:avLst/>
            </a:prstGeom>
            <a:noFill/>
            <a:ln w="9525" cap="flat" cmpd="sng">
              <a:solidFill>
                <a:schemeClr val="dk1"/>
              </a:solidFill>
              <a:prstDash val="solid"/>
              <a:miter/>
              <a:headEnd type="triangle" w="lg" len="lg"/>
              <a:tailEnd type="triangle" w="lg" len="lg"/>
            </a:ln>
          </p:spPr>
        </p:cxnSp>
        <p:cxnSp>
          <p:nvCxnSpPr>
            <p:cNvPr id="199" name="Shape 199"/>
            <p:cNvCxnSpPr>
              <a:stCxn id="186" idx="1"/>
              <a:endCxn id="187" idx="0"/>
            </p:cNvCxnSpPr>
            <p:nvPr/>
          </p:nvCxnSpPr>
          <p:spPr>
            <a:xfrm>
              <a:off x="3113205" y="3951006"/>
              <a:ext cx="2808300" cy="1164300"/>
            </a:xfrm>
            <a:prstGeom prst="straightConnector1">
              <a:avLst/>
            </a:prstGeom>
            <a:noFill/>
            <a:ln w="9525" cap="flat" cmpd="sng">
              <a:solidFill>
                <a:schemeClr val="dk1"/>
              </a:solidFill>
              <a:prstDash val="solid"/>
              <a:miter/>
              <a:headEnd type="triangle" w="lg" len="lg"/>
              <a:tailEnd type="triangle" w="lg" len="lg"/>
            </a:ln>
          </p:spPr>
        </p:cxnSp>
        <p:cxnSp>
          <p:nvCxnSpPr>
            <p:cNvPr id="200" name="Shape 200"/>
            <p:cNvCxnSpPr>
              <a:stCxn id="194" idx="1"/>
              <a:endCxn id="187" idx="0"/>
            </p:cNvCxnSpPr>
            <p:nvPr/>
          </p:nvCxnSpPr>
          <p:spPr>
            <a:xfrm flipH="1">
              <a:off x="5921452" y="3951006"/>
              <a:ext cx="2844000" cy="1164300"/>
            </a:xfrm>
            <a:prstGeom prst="straightConnector1">
              <a:avLst/>
            </a:prstGeom>
            <a:noFill/>
            <a:ln w="9525" cap="flat" cmpd="sng">
              <a:solidFill>
                <a:schemeClr val="dk1"/>
              </a:solidFill>
              <a:prstDash val="solid"/>
              <a:miter/>
              <a:headEnd type="triangle" w="lg" len="lg"/>
              <a:tailEnd type="triangle" w="lg" len="lg"/>
            </a:ln>
          </p:spPr>
        </p:cxnSp>
      </p:grpSp>
      <p:sp>
        <p:nvSpPr>
          <p:cNvPr id="201" name="Shape 201"/>
          <p:cNvSpPr txBox="1"/>
          <p:nvPr/>
        </p:nvSpPr>
        <p:spPr>
          <a:xfrm>
            <a:off x="562318" y="4661460"/>
            <a:ext cx="1314900" cy="5232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2800" b="0" i="0" u="none" strike="noStrike" cap="none" baseline="0">
                <a:solidFill>
                  <a:srgbClr val="FF0000"/>
                </a:solidFill>
                <a:latin typeface="Calibri"/>
                <a:ea typeface="Calibri"/>
                <a:cs typeface="Calibri"/>
                <a:sym typeface="Calibri"/>
              </a:rPr>
              <a:t>Generic</a:t>
            </a: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5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Shape 206"/>
          <p:cNvSpPr txBox="1">
            <a:spLocks noGrp="1"/>
          </p:cNvSpPr>
          <p:nvPr>
            <p:ph type="title"/>
          </p:nvPr>
        </p:nvSpPr>
        <p:spPr>
          <a:xfrm>
            <a:off x="824753" y="0"/>
            <a:ext cx="10515599" cy="1325562"/>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400" b="0" i="0" u="none" strike="noStrike" cap="none" baseline="0" dirty="0" smtClean="0">
                <a:solidFill>
                  <a:schemeClr val="dk1"/>
                </a:solidFill>
                <a:ea typeface="Calibri"/>
                <a:cs typeface="Calibri"/>
                <a:sym typeface="Calibri"/>
              </a:rPr>
              <a:t> </a:t>
            </a:r>
            <a:r>
              <a:rPr lang="en-US" sz="4400" b="0" i="0" u="none" strike="noStrike" cap="none" baseline="0" dirty="0">
                <a:solidFill>
                  <a:schemeClr val="dk1"/>
                </a:solidFill>
                <a:ea typeface="Calibri"/>
                <a:cs typeface="Calibri"/>
                <a:sym typeface="Calibri"/>
              </a:rPr>
              <a:t>A ‘Generic’ Architecture for IOT</a:t>
            </a:r>
          </a:p>
        </p:txBody>
      </p:sp>
      <p:pic>
        <p:nvPicPr>
          <p:cNvPr id="207" name="Shape 207"/>
          <p:cNvPicPr preferRelativeResize="0"/>
          <p:nvPr/>
        </p:nvPicPr>
        <p:blipFill rotWithShape="1">
          <a:blip r:embed="rId3">
            <a:alphaModFix/>
          </a:blip>
          <a:srcRect/>
          <a:stretch/>
        </p:blipFill>
        <p:spPr>
          <a:xfrm>
            <a:off x="2660322" y="1145923"/>
            <a:ext cx="6844461" cy="5378822"/>
          </a:xfrm>
          <a:prstGeom prst="rect">
            <a:avLst/>
          </a:prstGeom>
          <a:noFill/>
          <a:ln>
            <a:noFill/>
          </a:ln>
        </p:spPr>
      </p:pic>
    </p:spTree>
  </p:cSld>
  <p:clrMapOvr>
    <a:masterClrMapping/>
  </p:clrMapOvr>
  <p:transition spd="slow">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Shape 219"/>
          <p:cNvSpPr txBox="1">
            <a:spLocks noGrp="1"/>
          </p:cNvSpPr>
          <p:nvPr>
            <p:ph type="title"/>
          </p:nvPr>
        </p:nvSpPr>
        <p:spPr>
          <a:xfrm>
            <a:off x="838200" y="0"/>
            <a:ext cx="10515599" cy="1325562"/>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400" b="0" i="0" u="none" strike="noStrike" cap="none" baseline="0" dirty="0">
                <a:solidFill>
                  <a:schemeClr val="dk1"/>
                </a:solidFill>
                <a:ea typeface="Calibri"/>
                <a:cs typeface="Calibri"/>
                <a:sym typeface="Calibri"/>
              </a:rPr>
              <a:t>Goals</a:t>
            </a:r>
          </a:p>
        </p:txBody>
      </p:sp>
      <p:sp>
        <p:nvSpPr>
          <p:cNvPr id="220" name="Shape 220"/>
          <p:cNvSpPr txBox="1">
            <a:spLocks noGrp="1"/>
          </p:cNvSpPr>
          <p:nvPr>
            <p:ph idx="1"/>
          </p:nvPr>
        </p:nvSpPr>
        <p:spPr>
          <a:xfrm>
            <a:off x="838200" y="1325562"/>
            <a:ext cx="10515599" cy="4982471"/>
          </a:xfrm>
          <a:prstGeom prst="rect">
            <a:avLst/>
          </a:prstGeom>
          <a:noFill/>
          <a:ln>
            <a:noFill/>
          </a:ln>
        </p:spPr>
        <p:txBody>
          <a:bodyPr lIns="91425" tIns="45700" rIns="91425" bIns="45700" anchor="t" anchorCtr="0">
            <a:noAutofit/>
          </a:bodyPr>
          <a:lstStyle/>
          <a:p>
            <a:pPr marL="228600" marR="0" lvl="0" indent="-228600" algn="l" rtl="0">
              <a:lnSpc>
                <a:spcPct val="70000"/>
              </a:lnSpc>
              <a:spcBef>
                <a:spcPts val="0"/>
              </a:spcBef>
              <a:buClr>
                <a:schemeClr val="dk1"/>
              </a:buClr>
              <a:buSzPct val="98636"/>
              <a:buFont typeface="Arial"/>
              <a:buChar char="•"/>
            </a:pPr>
            <a:r>
              <a:rPr lang="en-US" sz="2170" b="1" i="0" u="none" strike="noStrike" cap="none" baseline="0" dirty="0">
                <a:solidFill>
                  <a:schemeClr val="dk1"/>
                </a:solidFill>
                <a:latin typeface="Calibri"/>
                <a:ea typeface="Calibri"/>
                <a:cs typeface="Calibri"/>
                <a:sym typeface="Calibri"/>
              </a:rPr>
              <a:t>Setting up the infrastructure: </a:t>
            </a:r>
            <a:r>
              <a:rPr lang="en-US" sz="2170" b="0" i="0" u="none" strike="noStrike" cap="none" baseline="0" dirty="0">
                <a:solidFill>
                  <a:schemeClr val="dk1"/>
                </a:solidFill>
                <a:latin typeface="Calibri"/>
                <a:ea typeface="Calibri"/>
                <a:cs typeface="Calibri"/>
                <a:sym typeface="Calibri"/>
              </a:rPr>
              <a:t> </a:t>
            </a:r>
            <a:r>
              <a:rPr lang="en-US" sz="2170" dirty="0" smtClean="0">
                <a:solidFill>
                  <a:schemeClr val="dk1"/>
                </a:solidFill>
                <a:latin typeface="Calibri"/>
                <a:ea typeface="Calibri"/>
                <a:cs typeface="Calibri"/>
                <a:sym typeface="Calibri"/>
              </a:rPr>
              <a:t>a scalable cross platform software architecture which can incorporates “things” of all types. Resource constrained and otherwise.</a:t>
            </a:r>
          </a:p>
          <a:p>
            <a:pPr marL="228600" marR="0" lvl="0" indent="-228600" algn="l" rtl="0">
              <a:lnSpc>
                <a:spcPct val="70000"/>
              </a:lnSpc>
              <a:spcBef>
                <a:spcPts val="0"/>
              </a:spcBef>
              <a:buClr>
                <a:schemeClr val="dk1"/>
              </a:buClr>
              <a:buSzPct val="98636"/>
              <a:buFont typeface="Arial"/>
              <a:buChar char="•"/>
            </a:pPr>
            <a:endParaRPr lang="en-US" sz="2170" b="0" i="0" u="none" strike="noStrike" cap="none" baseline="0" dirty="0">
              <a:solidFill>
                <a:schemeClr val="dk1"/>
              </a:solidFill>
              <a:latin typeface="Calibri"/>
              <a:ea typeface="Calibri"/>
              <a:cs typeface="Calibri"/>
              <a:sym typeface="Calibri"/>
            </a:endParaRPr>
          </a:p>
          <a:p>
            <a:pPr marL="228600" marR="0" lvl="0" indent="-228600" algn="l" rtl="0">
              <a:lnSpc>
                <a:spcPct val="70000"/>
              </a:lnSpc>
              <a:spcBef>
                <a:spcPts val="1000"/>
              </a:spcBef>
              <a:buClr>
                <a:schemeClr val="dk1"/>
              </a:buClr>
              <a:buSzPct val="98636"/>
              <a:buFont typeface="Arial"/>
              <a:buChar char="•"/>
            </a:pPr>
            <a:r>
              <a:rPr lang="en-US" sz="2170" b="1" i="0" u="none" strike="noStrike" cap="none" baseline="0" dirty="0">
                <a:solidFill>
                  <a:schemeClr val="dk1"/>
                </a:solidFill>
                <a:latin typeface="Calibri"/>
                <a:ea typeface="Calibri"/>
                <a:cs typeface="Calibri"/>
                <a:sym typeface="Calibri"/>
              </a:rPr>
              <a:t>Standardized Common protocol</a:t>
            </a:r>
            <a:r>
              <a:rPr lang="en-US" sz="2170" b="0" i="0" u="none" strike="noStrike" cap="none" baseline="0" dirty="0">
                <a:solidFill>
                  <a:schemeClr val="dk1"/>
                </a:solidFill>
                <a:latin typeface="Calibri"/>
                <a:ea typeface="Calibri"/>
                <a:cs typeface="Calibri"/>
                <a:sym typeface="Calibri"/>
              </a:rPr>
              <a:t>:  </a:t>
            </a:r>
            <a:r>
              <a:rPr lang="en-US" sz="2170" b="0" i="0" u="none" strike="noStrike" cap="none" baseline="0" dirty="0" smtClean="0">
                <a:solidFill>
                  <a:schemeClr val="dk1"/>
                </a:solidFill>
                <a:latin typeface="Calibri"/>
                <a:ea typeface="Calibri"/>
                <a:cs typeface="Calibri"/>
                <a:sym typeface="Calibri"/>
              </a:rPr>
              <a:t>Dynamic</a:t>
            </a:r>
            <a:r>
              <a:rPr lang="en-US" sz="2170" b="0" i="0" u="none" strike="noStrike" cap="none" dirty="0" smtClean="0">
                <a:solidFill>
                  <a:schemeClr val="dk1"/>
                </a:solidFill>
                <a:latin typeface="Calibri"/>
                <a:ea typeface="Calibri"/>
                <a:cs typeface="Calibri"/>
                <a:sym typeface="Calibri"/>
              </a:rPr>
              <a:t> protocol between each layer which can support the different connection profiles with minimum power overhead</a:t>
            </a:r>
            <a:r>
              <a:rPr lang="en-US" sz="2170" b="0" i="0" u="none" strike="noStrike" cap="none" baseline="0" dirty="0" smtClean="0">
                <a:solidFill>
                  <a:schemeClr val="dk1"/>
                </a:solidFill>
                <a:latin typeface="Calibri"/>
                <a:ea typeface="Calibri"/>
                <a:cs typeface="Calibri"/>
                <a:sym typeface="Calibri"/>
              </a:rPr>
              <a:t>.</a:t>
            </a:r>
          </a:p>
          <a:p>
            <a:pPr marL="228600" marR="0" lvl="0" indent="-228600" algn="l" rtl="0">
              <a:lnSpc>
                <a:spcPct val="70000"/>
              </a:lnSpc>
              <a:spcBef>
                <a:spcPts val="1000"/>
              </a:spcBef>
              <a:buClr>
                <a:schemeClr val="dk1"/>
              </a:buClr>
              <a:buSzPct val="98636"/>
              <a:buFont typeface="Arial"/>
              <a:buChar char="•"/>
            </a:pPr>
            <a:endParaRPr lang="en-US" sz="2170" b="0" i="0" u="none" strike="noStrike" cap="none" baseline="0" dirty="0">
              <a:solidFill>
                <a:schemeClr val="dk1"/>
              </a:solidFill>
              <a:latin typeface="Calibri"/>
              <a:ea typeface="Calibri"/>
              <a:cs typeface="Calibri"/>
              <a:sym typeface="Calibri"/>
            </a:endParaRPr>
          </a:p>
          <a:p>
            <a:pPr marL="228600" marR="0" lvl="0" indent="-228600" algn="l" rtl="0">
              <a:lnSpc>
                <a:spcPct val="70000"/>
              </a:lnSpc>
              <a:spcBef>
                <a:spcPts val="1000"/>
              </a:spcBef>
              <a:buClr>
                <a:schemeClr val="dk1"/>
              </a:buClr>
              <a:buSzPct val="98636"/>
              <a:buFont typeface="Arial"/>
              <a:buChar char="•"/>
            </a:pPr>
            <a:r>
              <a:rPr lang="en-US" sz="2170" b="1" i="0" u="none" strike="noStrike" cap="none" baseline="0" dirty="0" smtClean="0">
                <a:solidFill>
                  <a:schemeClr val="dk1"/>
                </a:solidFill>
                <a:latin typeface="Calibri"/>
                <a:ea typeface="Calibri"/>
                <a:cs typeface="Calibri"/>
                <a:sym typeface="Calibri"/>
              </a:rPr>
              <a:t>Standalone </a:t>
            </a:r>
            <a:r>
              <a:rPr lang="en-US" sz="2170" b="1" i="0" u="none" strike="noStrike" cap="none" baseline="0" dirty="0">
                <a:solidFill>
                  <a:schemeClr val="dk1"/>
                </a:solidFill>
                <a:latin typeface="Calibri"/>
                <a:ea typeface="Calibri"/>
                <a:cs typeface="Calibri"/>
                <a:sym typeface="Calibri"/>
              </a:rPr>
              <a:t>Mode: </a:t>
            </a:r>
            <a:r>
              <a:rPr lang="en-US" sz="2170" b="0" i="0" u="none" strike="noStrike" cap="none" baseline="0" dirty="0" smtClean="0">
                <a:solidFill>
                  <a:schemeClr val="dk1"/>
                </a:solidFill>
                <a:latin typeface="Calibri"/>
                <a:ea typeface="Calibri"/>
                <a:cs typeface="Calibri"/>
                <a:sym typeface="Calibri"/>
              </a:rPr>
              <a:t>Support intr</a:t>
            </a:r>
            <a:r>
              <a:rPr lang="en-US" sz="2170" dirty="0">
                <a:solidFill>
                  <a:schemeClr val="dk1"/>
                </a:solidFill>
                <a:latin typeface="Calibri"/>
                <a:ea typeface="Calibri"/>
                <a:cs typeface="Calibri"/>
                <a:sym typeface="Calibri"/>
              </a:rPr>
              <a:t>a</a:t>
            </a:r>
            <a:r>
              <a:rPr lang="en-US" sz="2170" b="0" i="0" u="none" strike="noStrike" cap="none" baseline="0" dirty="0" smtClean="0">
                <a:solidFill>
                  <a:schemeClr val="dk1"/>
                </a:solidFill>
                <a:latin typeface="Calibri"/>
                <a:ea typeface="Calibri"/>
                <a:cs typeface="Calibri"/>
                <a:sym typeface="Calibri"/>
              </a:rPr>
              <a:t>-network features which would make the system </a:t>
            </a:r>
            <a:r>
              <a:rPr lang="en-US" sz="2170" dirty="0" smtClean="0">
                <a:solidFill>
                  <a:schemeClr val="dk1"/>
                </a:solidFill>
                <a:latin typeface="Calibri"/>
                <a:ea typeface="Calibri"/>
                <a:cs typeface="Calibri"/>
                <a:sym typeface="Calibri"/>
              </a:rPr>
              <a:t>efficient and </a:t>
            </a:r>
            <a:r>
              <a:rPr lang="en-US" sz="2170" b="0" i="0" u="none" strike="noStrike" cap="none" baseline="0" dirty="0" smtClean="0">
                <a:solidFill>
                  <a:schemeClr val="dk1"/>
                </a:solidFill>
                <a:latin typeface="Calibri"/>
                <a:ea typeface="Calibri"/>
                <a:cs typeface="Calibri"/>
                <a:sym typeface="Calibri"/>
              </a:rPr>
              <a:t>robust</a:t>
            </a:r>
            <a:r>
              <a:rPr lang="en-US" sz="2170" b="0" i="0" u="none" strike="noStrike" cap="none" dirty="0" smtClean="0">
                <a:solidFill>
                  <a:schemeClr val="dk1"/>
                </a:solidFill>
                <a:latin typeface="Calibri"/>
                <a:ea typeface="Calibri"/>
                <a:cs typeface="Calibri"/>
                <a:sym typeface="Calibri"/>
              </a:rPr>
              <a:t> </a:t>
            </a:r>
            <a:r>
              <a:rPr lang="en-US" sz="2170" b="0" i="0" u="none" strike="noStrike" cap="none" baseline="0" dirty="0" smtClean="0">
                <a:solidFill>
                  <a:schemeClr val="dk1"/>
                </a:solidFill>
                <a:latin typeface="Calibri"/>
                <a:ea typeface="Calibri"/>
                <a:cs typeface="Calibri"/>
                <a:sym typeface="Calibri"/>
              </a:rPr>
              <a:t>during </a:t>
            </a:r>
            <a:r>
              <a:rPr lang="en-US" sz="2170" b="0" i="0" u="none" strike="noStrike" cap="none" baseline="0" dirty="0">
                <a:solidFill>
                  <a:schemeClr val="dk1"/>
                </a:solidFill>
                <a:latin typeface="Calibri"/>
                <a:ea typeface="Calibri"/>
                <a:cs typeface="Calibri"/>
                <a:sym typeface="Calibri"/>
              </a:rPr>
              <a:t>weak internet connections or outages. </a:t>
            </a:r>
            <a:endParaRPr lang="en-US" sz="2170" b="0" i="0" u="none" strike="noStrike" cap="none" baseline="0" dirty="0" smtClean="0">
              <a:solidFill>
                <a:schemeClr val="dk1"/>
              </a:solidFill>
              <a:latin typeface="Calibri"/>
              <a:ea typeface="Calibri"/>
              <a:cs typeface="Calibri"/>
              <a:sym typeface="Calibri"/>
            </a:endParaRPr>
          </a:p>
          <a:p>
            <a:pPr marL="228600" marR="0" lvl="0" indent="-228600" algn="l" rtl="0">
              <a:lnSpc>
                <a:spcPct val="70000"/>
              </a:lnSpc>
              <a:spcBef>
                <a:spcPts val="1000"/>
              </a:spcBef>
              <a:buClr>
                <a:schemeClr val="dk1"/>
              </a:buClr>
              <a:buSzPct val="98636"/>
              <a:buFont typeface="Arial"/>
              <a:buChar char="•"/>
            </a:pPr>
            <a:endParaRPr lang="en-US" sz="2170" b="0" i="0" u="none" strike="noStrike" cap="none" baseline="0" dirty="0">
              <a:solidFill>
                <a:schemeClr val="dk1"/>
              </a:solidFill>
              <a:latin typeface="Calibri"/>
              <a:ea typeface="Calibri"/>
              <a:cs typeface="Calibri"/>
              <a:sym typeface="Calibri"/>
            </a:endParaRPr>
          </a:p>
          <a:p>
            <a:pPr marL="228600" marR="0" lvl="0" indent="-228600" algn="l" rtl="0">
              <a:lnSpc>
                <a:spcPct val="70000"/>
              </a:lnSpc>
              <a:spcBef>
                <a:spcPts val="1000"/>
              </a:spcBef>
              <a:buClr>
                <a:schemeClr val="dk1"/>
              </a:buClr>
              <a:buSzPct val="98636"/>
              <a:buFont typeface="Arial"/>
              <a:buChar char="•"/>
            </a:pPr>
            <a:r>
              <a:rPr lang="en-US" sz="2170" b="1" i="0" u="none" strike="noStrike" cap="none" baseline="0" dirty="0">
                <a:solidFill>
                  <a:schemeClr val="dk1"/>
                </a:solidFill>
                <a:latin typeface="Calibri"/>
                <a:ea typeface="Calibri"/>
                <a:cs typeface="Calibri"/>
                <a:sym typeface="Calibri"/>
              </a:rPr>
              <a:t>Resource Management: </a:t>
            </a:r>
            <a:r>
              <a:rPr lang="en-US" sz="2170" b="0" i="0" u="none" strike="noStrike" cap="none" baseline="0" dirty="0">
                <a:solidFill>
                  <a:schemeClr val="dk1"/>
                </a:solidFill>
                <a:latin typeface="Calibri"/>
                <a:ea typeface="Calibri"/>
                <a:cs typeface="Calibri"/>
                <a:sym typeface="Calibri"/>
              </a:rPr>
              <a:t>Keeping Track of all the endpoints, their health and assigning them to security groups. </a:t>
            </a:r>
            <a:endParaRPr lang="en-US" sz="2170" b="0" i="0" u="none" strike="noStrike" cap="none" baseline="0" dirty="0" smtClean="0">
              <a:solidFill>
                <a:schemeClr val="dk1"/>
              </a:solidFill>
              <a:latin typeface="Calibri"/>
              <a:ea typeface="Calibri"/>
              <a:cs typeface="Calibri"/>
              <a:sym typeface="Calibri"/>
            </a:endParaRPr>
          </a:p>
          <a:p>
            <a:pPr marL="228600" marR="0" lvl="0" indent="-228600" algn="l" rtl="0">
              <a:lnSpc>
                <a:spcPct val="70000"/>
              </a:lnSpc>
              <a:spcBef>
                <a:spcPts val="1000"/>
              </a:spcBef>
              <a:buClr>
                <a:schemeClr val="dk1"/>
              </a:buClr>
              <a:buSzPct val="98636"/>
              <a:buFont typeface="Arial"/>
              <a:buChar char="•"/>
            </a:pPr>
            <a:endParaRPr lang="en-US" sz="2170" b="0" i="0" u="none" strike="noStrike" cap="none" baseline="0" dirty="0">
              <a:solidFill>
                <a:schemeClr val="dk1"/>
              </a:solidFill>
              <a:latin typeface="Calibri"/>
              <a:ea typeface="Calibri"/>
              <a:cs typeface="Calibri"/>
              <a:sym typeface="Calibri"/>
            </a:endParaRPr>
          </a:p>
          <a:p>
            <a:pPr marL="228600" marR="0" lvl="0" indent="-228600" algn="l" rtl="0">
              <a:lnSpc>
                <a:spcPct val="70000"/>
              </a:lnSpc>
              <a:spcBef>
                <a:spcPts val="1000"/>
              </a:spcBef>
              <a:buClr>
                <a:schemeClr val="dk1"/>
              </a:buClr>
              <a:buSzPct val="98636"/>
              <a:buFont typeface="Arial"/>
              <a:buChar char="•"/>
            </a:pPr>
            <a:r>
              <a:rPr lang="en-US" sz="2170" b="1" i="0" u="none" strike="noStrike" cap="none" baseline="0" dirty="0">
                <a:solidFill>
                  <a:schemeClr val="dk1"/>
                </a:solidFill>
                <a:latin typeface="Calibri"/>
                <a:ea typeface="Calibri"/>
                <a:cs typeface="Calibri"/>
                <a:sym typeface="Calibri"/>
              </a:rPr>
              <a:t>M2M Device Server : </a:t>
            </a:r>
            <a:r>
              <a:rPr lang="en-US" sz="2170" b="0" i="0" u="none" strike="noStrike" cap="none" baseline="0" dirty="0">
                <a:solidFill>
                  <a:schemeClr val="dk1"/>
                </a:solidFill>
                <a:latin typeface="Calibri"/>
                <a:ea typeface="Calibri"/>
                <a:cs typeface="Calibri"/>
                <a:sym typeface="Calibri"/>
              </a:rPr>
              <a:t>Analogous to a http server but  handles requests from devices and machines instead of humans.</a:t>
            </a:r>
          </a:p>
        </p:txBody>
      </p:sp>
    </p:spTree>
    <p:extLst>
      <p:ext uri="{BB962C8B-B14F-4D97-AF65-F5344CB8AC3E}">
        <p14:creationId xmlns:p14="http://schemas.microsoft.com/office/powerpoint/2010/main" val="1756491427"/>
      </p:ext>
    </p:extLst>
  </p:cSld>
  <p:clrMapOvr>
    <a:masterClrMapping/>
  </p:clrMapOvr>
  <p:transition spd="slow">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Smart Device Software Components</a:t>
            </a:r>
            <a:endParaRPr lang="en-US" dirty="0"/>
          </a:p>
        </p:txBody>
      </p:sp>
      <p:pic>
        <p:nvPicPr>
          <p:cNvPr id="64" name="Content Placeholder 6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3033" y="1690688"/>
            <a:ext cx="5188874" cy="4351338"/>
          </a:xfrm>
        </p:spPr>
      </p:pic>
    </p:spTree>
    <p:extLst>
      <p:ext uri="{BB962C8B-B14F-4D97-AF65-F5344CB8AC3E}">
        <p14:creationId xmlns:p14="http://schemas.microsoft.com/office/powerpoint/2010/main" val="3549595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Server Communication Gateway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7339" y="1690688"/>
            <a:ext cx="7794512" cy="4279340"/>
          </a:xfrm>
        </p:spPr>
      </p:pic>
      <p:sp>
        <p:nvSpPr>
          <p:cNvPr id="5" name="TextBox 4"/>
          <p:cNvSpPr txBox="1"/>
          <p:nvPr/>
        </p:nvSpPr>
        <p:spPr>
          <a:xfrm>
            <a:off x="979412" y="3830358"/>
            <a:ext cx="857927" cy="838563"/>
          </a:xfrm>
          <a:prstGeom prst="rect">
            <a:avLst/>
          </a:prstGeom>
          <a:noFill/>
        </p:spPr>
        <p:txBody>
          <a:bodyPr wrap="none" rtlCol="0">
            <a:spAutoFit/>
          </a:bodyPr>
          <a:lstStyle/>
          <a:p>
            <a:r>
              <a:rPr lang="en-US" sz="1039" dirty="0" smtClean="0"/>
              <a:t>Incoming</a:t>
            </a:r>
          </a:p>
          <a:p>
            <a:r>
              <a:rPr lang="en-US" sz="1039" dirty="0" smtClean="0"/>
              <a:t>Connections</a:t>
            </a:r>
          </a:p>
          <a:p>
            <a:r>
              <a:rPr lang="en-US" sz="1039" dirty="0" smtClean="0"/>
              <a:t>From Smart</a:t>
            </a:r>
          </a:p>
          <a:p>
            <a:r>
              <a:rPr lang="en-US" sz="1039" dirty="0" smtClean="0"/>
              <a:t>Device</a:t>
            </a:r>
          </a:p>
          <a:p>
            <a:endParaRPr lang="en-IN" sz="1039" baseline="-25000" dirty="0"/>
          </a:p>
        </p:txBody>
      </p:sp>
    </p:spTree>
    <p:extLst>
      <p:ext uri="{BB962C8B-B14F-4D97-AF65-F5344CB8AC3E}">
        <p14:creationId xmlns:p14="http://schemas.microsoft.com/office/powerpoint/2010/main" val="13937758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Shape 225"/>
          <p:cNvSpPr txBox="1">
            <a:spLocks noGrp="1"/>
          </p:cNvSpPr>
          <p:nvPr>
            <p:ph type="title"/>
          </p:nvPr>
        </p:nvSpPr>
        <p:spPr>
          <a:xfrm>
            <a:off x="838200" y="7316"/>
            <a:ext cx="10515599" cy="1325562"/>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400" b="0" i="0" u="none" strike="noStrike" cap="none" baseline="0">
                <a:solidFill>
                  <a:schemeClr val="dk1"/>
                </a:solidFill>
                <a:latin typeface="Calibri"/>
                <a:ea typeface="Calibri"/>
                <a:cs typeface="Calibri"/>
                <a:sym typeface="Calibri"/>
              </a:rPr>
              <a:t>Challenges</a:t>
            </a:r>
          </a:p>
        </p:txBody>
      </p:sp>
      <p:sp>
        <p:nvSpPr>
          <p:cNvPr id="226" name="Shape 226"/>
          <p:cNvSpPr txBox="1">
            <a:spLocks noGrp="1"/>
          </p:cNvSpPr>
          <p:nvPr>
            <p:ph idx="1"/>
          </p:nvPr>
        </p:nvSpPr>
        <p:spPr>
          <a:xfrm>
            <a:off x="838200" y="1332879"/>
            <a:ext cx="10515599" cy="4844084"/>
          </a:xfrm>
          <a:prstGeom prst="rect">
            <a:avLst/>
          </a:prstGeom>
          <a:noFill/>
          <a:ln>
            <a:noFill/>
          </a:ln>
        </p:spPr>
        <p:txBody>
          <a:bodyPr lIns="91425" tIns="45700" rIns="91425" bIns="45700" anchor="t" anchorCtr="0">
            <a:noAutofit/>
          </a:bodyPr>
          <a:lstStyle/>
          <a:p>
            <a:pPr marL="228600" marR="0" lvl="0" indent="-228600" algn="l" rtl="0">
              <a:lnSpc>
                <a:spcPct val="90000"/>
              </a:lnSpc>
              <a:spcBef>
                <a:spcPts val="0"/>
              </a:spcBef>
              <a:buClr>
                <a:schemeClr val="dk1"/>
              </a:buClr>
              <a:buSzPct val="100000"/>
              <a:buFont typeface="Arial"/>
              <a:buChar char="•"/>
            </a:pPr>
            <a:r>
              <a:rPr lang="en-US" sz="2800" b="0" i="0" u="none" strike="noStrike" cap="none" baseline="0">
                <a:solidFill>
                  <a:schemeClr val="dk1"/>
                </a:solidFill>
                <a:latin typeface="Calibri"/>
                <a:ea typeface="Calibri"/>
                <a:cs typeface="Calibri"/>
                <a:sym typeface="Calibri"/>
              </a:rPr>
              <a:t>Little to no similar ‘Generic’ architecture exists</a:t>
            </a:r>
          </a:p>
          <a:p>
            <a:pPr marL="228600" marR="0" lvl="0" indent="-228600" algn="l" rtl="0">
              <a:lnSpc>
                <a:spcPct val="90000"/>
              </a:lnSpc>
              <a:spcBef>
                <a:spcPts val="1000"/>
              </a:spcBef>
              <a:buClr>
                <a:schemeClr val="dk1"/>
              </a:buClr>
              <a:buSzPct val="100000"/>
              <a:buFont typeface="Arial"/>
              <a:buChar char="•"/>
            </a:pPr>
            <a:r>
              <a:rPr lang="en-US" sz="2800" b="0" i="0" u="none" strike="noStrike" cap="none" baseline="0">
                <a:solidFill>
                  <a:schemeClr val="dk1"/>
                </a:solidFill>
                <a:latin typeface="Calibri"/>
                <a:ea typeface="Calibri"/>
                <a:cs typeface="Calibri"/>
                <a:sym typeface="Calibri"/>
              </a:rPr>
              <a:t>Scalability</a:t>
            </a:r>
          </a:p>
          <a:p>
            <a:pPr marL="228600" marR="0" lvl="0" indent="-228600" algn="l" rtl="0">
              <a:lnSpc>
                <a:spcPct val="90000"/>
              </a:lnSpc>
              <a:spcBef>
                <a:spcPts val="1000"/>
              </a:spcBef>
              <a:buClr>
                <a:schemeClr val="dk1"/>
              </a:buClr>
              <a:buSzPct val="100000"/>
              <a:buFont typeface="Arial"/>
              <a:buChar char="•"/>
            </a:pPr>
            <a:r>
              <a:rPr lang="en-US" sz="2800" b="0" i="0" u="none" strike="noStrike" cap="none" baseline="0">
                <a:solidFill>
                  <a:schemeClr val="dk1"/>
                </a:solidFill>
                <a:latin typeface="Calibri"/>
                <a:ea typeface="Calibri"/>
                <a:cs typeface="Calibri"/>
                <a:sym typeface="Calibri"/>
              </a:rPr>
              <a:t>Low-power consumption</a:t>
            </a:r>
          </a:p>
          <a:p>
            <a:pPr marL="228600" marR="0" lvl="0" indent="-228600" algn="l" rtl="0">
              <a:lnSpc>
                <a:spcPct val="90000"/>
              </a:lnSpc>
              <a:spcBef>
                <a:spcPts val="1000"/>
              </a:spcBef>
              <a:buClr>
                <a:schemeClr val="dk1"/>
              </a:buClr>
              <a:buSzPct val="100000"/>
              <a:buFont typeface="Arial"/>
              <a:buChar char="•"/>
            </a:pPr>
            <a:r>
              <a:rPr lang="en-US" sz="2800" b="0" i="0" u="none" strike="noStrike" cap="none" baseline="0">
                <a:solidFill>
                  <a:schemeClr val="dk1"/>
                </a:solidFill>
                <a:latin typeface="Calibri"/>
                <a:ea typeface="Calibri"/>
                <a:cs typeface="Calibri"/>
                <a:sym typeface="Calibri"/>
              </a:rPr>
              <a:t>Security</a:t>
            </a:r>
          </a:p>
          <a:p>
            <a:pPr marL="228600" marR="0" lvl="0" indent="-228600" algn="l" rtl="0">
              <a:lnSpc>
                <a:spcPct val="90000"/>
              </a:lnSpc>
              <a:spcBef>
                <a:spcPts val="1000"/>
              </a:spcBef>
              <a:buClr>
                <a:schemeClr val="dk1"/>
              </a:buClr>
              <a:buSzPct val="100000"/>
              <a:buFont typeface="Arial"/>
              <a:buChar char="•"/>
            </a:pPr>
            <a:r>
              <a:rPr lang="en-US" sz="2800" b="0" i="0" u="none" strike="noStrike" cap="none" baseline="0">
                <a:solidFill>
                  <a:schemeClr val="dk1"/>
                </a:solidFill>
                <a:latin typeface="Calibri"/>
                <a:ea typeface="Calibri"/>
                <a:cs typeface="Calibri"/>
                <a:sym typeface="Calibri"/>
              </a:rPr>
              <a:t>No existing standard protocols</a:t>
            </a:r>
          </a:p>
          <a:p>
            <a:pPr marL="228600" marR="0" lvl="0" indent="-228600" algn="l" rtl="0">
              <a:lnSpc>
                <a:spcPct val="90000"/>
              </a:lnSpc>
              <a:spcBef>
                <a:spcPts val="1000"/>
              </a:spcBef>
              <a:buClr>
                <a:schemeClr val="dk1"/>
              </a:buClr>
              <a:buSzPct val="100000"/>
              <a:buFont typeface="Arial"/>
              <a:buChar char="•"/>
            </a:pPr>
            <a:r>
              <a:rPr lang="en-US" sz="2800" b="0" i="0" u="none" strike="noStrike" cap="none" baseline="0">
                <a:solidFill>
                  <a:schemeClr val="dk1"/>
                </a:solidFill>
                <a:latin typeface="Calibri"/>
                <a:ea typeface="Calibri"/>
                <a:cs typeface="Calibri"/>
                <a:sym typeface="Calibri"/>
              </a:rPr>
              <a:t>Minimal storage on the ‘things’</a:t>
            </a:r>
          </a:p>
        </p:txBody>
      </p:sp>
    </p:spTree>
  </p:cSld>
  <p:clrMapOvr>
    <a:masterClrMapping/>
  </p:clrMapOvr>
  <p:transition spd="slow">
    <p:cut/>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ystemOffice22June2010">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Tahoma"/>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TotalTime>
  <Words>490</Words>
  <Application>Microsoft Macintosh PowerPoint</Application>
  <PresentationFormat>Widescreen</PresentationFormat>
  <Paragraphs>117</Paragraphs>
  <Slides>13</Slides>
  <Notes>11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Calibri</vt:lpstr>
      <vt:lpstr>Calibri Light</vt:lpstr>
      <vt:lpstr>Tahoma</vt:lpstr>
      <vt:lpstr>Verdana</vt:lpstr>
      <vt:lpstr>Arial</vt:lpstr>
      <vt:lpstr>Office Theme</vt:lpstr>
      <vt:lpstr>SystemOffice22June2010</vt:lpstr>
      <vt:lpstr>PowerPoint Presentation</vt:lpstr>
      <vt:lpstr>What is IoT?</vt:lpstr>
      <vt:lpstr>IoT Growth</vt:lpstr>
      <vt:lpstr>Applications of IoT</vt:lpstr>
      <vt:lpstr>Connection Hierarchy</vt:lpstr>
      <vt:lpstr>Connection Profiles</vt:lpstr>
      <vt:lpstr>Finding the ‘common thing’ in things</vt:lpstr>
      <vt:lpstr>A ‘Generic’ Architecture for IOT</vt:lpstr>
      <vt:lpstr> A ‘Generic’ Architecture for IOT</vt:lpstr>
      <vt:lpstr>Goals</vt:lpstr>
      <vt:lpstr>Smart Device Software Components</vt:lpstr>
      <vt:lpstr>Server Communication Gateway</vt:lpstr>
      <vt:lpstr>Challenges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Siddhant Rath</cp:lastModifiedBy>
  <cp:revision>19</cp:revision>
  <dcterms:modified xsi:type="dcterms:W3CDTF">2015-11-27T03:15:36Z</dcterms:modified>
</cp:coreProperties>
</file>